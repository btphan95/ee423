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9144000"/>
  <p:notesSz cx="68580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arts-express.com/pyramid-wx65x-6-1-2-white-poly-woofer--290-27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p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g1d9db55c4d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d9db55c4d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p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Project goals: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Market:</a:t>
            </a:r>
            <a:endParaRPr/>
          </a:p>
          <a:p>
            <a:pPr indent="-317500" lvl="0" marL="457200" rtl="0" algn="l">
              <a:spcBef>
                <a:spcPts val="0"/>
              </a:spcBef>
              <a:spcAft>
                <a:spcPts val="0"/>
              </a:spcAft>
              <a:buSzPts val="1400"/>
              <a:buChar char="-"/>
            </a:pPr>
            <a:r>
              <a:rPr lang="en-US"/>
              <a:t>Music production monitors</a:t>
            </a:r>
            <a:endParaRPr/>
          </a:p>
          <a:p>
            <a:pPr indent="0" lvl="0" marL="0" rtl="0" algn="l">
              <a:spcBef>
                <a:spcPts val="0"/>
              </a:spcBef>
              <a:spcAft>
                <a:spcPts val="0"/>
              </a:spcAft>
              <a:buNone/>
            </a:pPr>
            <a:r>
              <a:rPr lang="en-US"/>
              <a:t>Intended use:</a:t>
            </a:r>
            <a:endParaRPr/>
          </a:p>
          <a:p>
            <a:pPr indent="-317500" lvl="0" marL="457200" rtl="0" algn="l">
              <a:spcBef>
                <a:spcPts val="0"/>
              </a:spcBef>
              <a:spcAft>
                <a:spcPts val="0"/>
              </a:spcAft>
              <a:buSzPts val="1400"/>
              <a:buChar char="-"/>
            </a:pPr>
            <a:r>
              <a:rPr lang="en-US"/>
              <a:t>Near-field studio monitors</a:t>
            </a:r>
            <a:endParaRPr/>
          </a:p>
          <a:p>
            <a:pPr indent="-317500" lvl="0" marL="457200" rtl="0" algn="l">
              <a:spcBef>
                <a:spcPts val="0"/>
              </a:spcBef>
              <a:spcAft>
                <a:spcPts val="0"/>
              </a:spcAft>
              <a:buSzPts val="1400"/>
              <a:buChar char="-"/>
            </a:pPr>
            <a:r>
              <a:rPr lang="en-US"/>
              <a:t>Speakers directed to those who want are producing in relatively small studios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Performance target</a:t>
            </a:r>
            <a:endParaRPr/>
          </a:p>
          <a:p>
            <a:pPr indent="0" lvl="0" marL="0" rtl="0" algn="l">
              <a:spcBef>
                <a:spcPts val="0"/>
              </a:spcBef>
              <a:spcAft>
                <a:spcPts val="0"/>
              </a:spcAft>
              <a:buNone/>
            </a:pPr>
            <a:r>
              <a:rPr lang="en-US"/>
              <a:t>Size and Cost</a:t>
            </a:r>
            <a:endParaRPr/>
          </a:p>
          <a:p>
            <a:pPr indent="-317500" lvl="0" marL="457200" rtl="0" algn="l">
              <a:spcBef>
                <a:spcPts val="0"/>
              </a:spcBef>
              <a:spcAft>
                <a:spcPts val="0"/>
              </a:spcAft>
              <a:buSzPts val="1400"/>
              <a:buChar char="-"/>
            </a:pPr>
            <a:r>
              <a:rPr lang="en-US"/>
              <a:t>H: 16”</a:t>
            </a:r>
            <a:endParaRPr/>
          </a:p>
          <a:p>
            <a:pPr indent="-317500" lvl="0" marL="457200" rtl="0" algn="l">
              <a:spcBef>
                <a:spcPts val="0"/>
              </a:spcBef>
              <a:spcAft>
                <a:spcPts val="0"/>
              </a:spcAft>
              <a:buSzPts val="1400"/>
              <a:buChar char="-"/>
            </a:pPr>
            <a:r>
              <a:rPr lang="en-US"/>
              <a:t>W: 9.5”</a:t>
            </a:r>
            <a:endParaRPr/>
          </a:p>
          <a:p>
            <a:pPr indent="-317500" lvl="0" marL="457200" rtl="0" algn="l">
              <a:spcBef>
                <a:spcPts val="0"/>
              </a:spcBef>
              <a:spcAft>
                <a:spcPts val="0"/>
              </a:spcAft>
              <a:buSzPts val="1400"/>
              <a:buChar char="-"/>
            </a:pPr>
            <a:r>
              <a:rPr lang="en-US"/>
              <a:t>L: 11”</a:t>
            </a:r>
            <a:endParaRPr/>
          </a:p>
          <a:p>
            <a:pPr indent="-317500" lvl="0" marL="457200" rtl="0" algn="l">
              <a:spcBef>
                <a:spcPts val="0"/>
              </a:spcBef>
              <a:spcAft>
                <a:spcPts val="0"/>
              </a:spcAft>
              <a:buSzPts val="1400"/>
              <a:buChar char="-"/>
            </a:pPr>
            <a:r>
              <a:rPr lang="en-US"/>
              <a:t>.97 cubic feet = 27.4 liters</a:t>
            </a:r>
            <a:endParaRPr/>
          </a:p>
          <a:p>
            <a:pPr indent="-317500" lvl="0" marL="457200" rtl="0" algn="l">
              <a:spcBef>
                <a:spcPts val="0"/>
              </a:spcBef>
              <a:spcAft>
                <a:spcPts val="0"/>
              </a:spcAft>
              <a:buSzPts val="1400"/>
              <a:buChar char="-"/>
            </a:pPr>
            <a:r>
              <a:t/>
            </a:r>
            <a:endParaRPr/>
          </a:p>
        </p:txBody>
      </p:sp>
      <p:sp>
        <p:nvSpPr>
          <p:cNvPr id="95" name="Google Shape;9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Focus: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Designs Considered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Drivers Chosen</a:t>
            </a:r>
            <a:endParaRPr/>
          </a:p>
          <a:p>
            <a:pPr indent="0" lvl="0" marL="0" rtl="0" algn="l">
              <a:spcBef>
                <a:spcPts val="0"/>
              </a:spcBef>
              <a:spcAft>
                <a:spcPts val="0"/>
              </a:spcAft>
              <a:buNone/>
            </a:pPr>
            <a:r>
              <a:rPr lang="en-US" u="sng">
                <a:solidFill>
                  <a:schemeClr val="hlink"/>
                </a:solidFill>
                <a:hlinkClick r:id="rId2"/>
              </a:rPr>
              <a:t>https://www.parts-express.com/pyramid-wx65x-6-1-2-white-poly-woofer--290-270</a:t>
            </a:r>
            <a:endParaRPr/>
          </a:p>
          <a:p>
            <a:pPr indent="0" lvl="0" marL="0" rtl="0" algn="l">
              <a:spcBef>
                <a:spcPts val="0"/>
              </a:spcBef>
              <a:spcAft>
                <a:spcPts val="0"/>
              </a:spcAft>
              <a:buNone/>
            </a:pPr>
            <a:r>
              <a:rPr lang="en-US"/>
              <a:t>https://www.parts-express.com/dayton-audio-dc28f-8-1-1-8-silk-dome-tweeter--275-070</a:t>
            </a:r>
            <a:endParaRPr/>
          </a:p>
        </p:txBody>
      </p:sp>
      <p:sp>
        <p:nvSpPr>
          <p:cNvPr id="102" name="Google Shape;10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2160a1f8b7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160a1f8b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2160a1f8b7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160a1f8b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g2160a1f8b7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160a1f8b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2208801e8c_1_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g2208801e8c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US" sz="2400">
                <a:solidFill>
                  <a:schemeClr val="dk1"/>
                </a:solidFill>
                <a:latin typeface="Times New Roman"/>
                <a:ea typeface="Times New Roman"/>
                <a:cs typeface="Times New Roman"/>
                <a:sym typeface="Times New Roman"/>
              </a:rPr>
              <a:t>Show pictures of raw components,</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partially completed box, and crossover</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network.  Describe construction techniques.</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Use only a few slides.</a:t>
            </a:r>
            <a:endParaRPr/>
          </a:p>
          <a:p>
            <a:pPr indent="0" lvl="0" marL="0" rtl="0" algn="l">
              <a:spcBef>
                <a:spcPts val="0"/>
              </a:spcBef>
              <a:spcAft>
                <a:spcPts val="0"/>
              </a:spcAft>
              <a:buNone/>
            </a:pPr>
            <a:r>
              <a:t/>
            </a:r>
            <a:endParaRPr/>
          </a:p>
        </p:txBody>
      </p:sp>
      <p:sp>
        <p:nvSpPr>
          <p:cNvPr id="151" name="Google Shape;15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Show measured woofer response and impedance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curves.  Include a table of basic Thiele-Small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parameters with published vs. measured values.</a:t>
            </a:r>
            <a:endParaRPr/>
          </a:p>
          <a:p>
            <a:pPr indent="0" lvl="0" marL="0" rtl="0" algn="l">
              <a:spcBef>
                <a:spcPts val="0"/>
              </a:spcBef>
              <a:spcAft>
                <a:spcPts val="0"/>
              </a:spcAft>
              <a:buNone/>
            </a:pPr>
            <a:r>
              <a:t/>
            </a:r>
            <a:endParaRPr/>
          </a:p>
        </p:txBody>
      </p:sp>
      <p:sp>
        <p:nvSpPr>
          <p:cNvPr id="162" name="Google Shape;16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g2208801e8c_6_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Show measured woofer response and impedance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curves.  Include a table of basic Thiele-Small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parameters with published vs. measured values.</a:t>
            </a:r>
            <a:endParaRPr/>
          </a:p>
          <a:p>
            <a:pPr indent="0" lvl="0" marL="0" rtl="0" algn="l">
              <a:spcBef>
                <a:spcPts val="0"/>
              </a:spcBef>
              <a:spcAft>
                <a:spcPts val="0"/>
              </a:spcAft>
              <a:buNone/>
            </a:pPr>
            <a:r>
              <a:t/>
            </a:r>
            <a:endParaRPr/>
          </a:p>
        </p:txBody>
      </p:sp>
      <p:sp>
        <p:nvSpPr>
          <p:cNvPr id="170" name="Google Shape;170;g2208801e8c_6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rPr i="1" lang="en-US">
                <a:solidFill>
                  <a:schemeClr val="dk1"/>
                </a:solidFill>
                <a:latin typeface="Times New Roman"/>
                <a:ea typeface="Times New Roman"/>
                <a:cs typeface="Times New Roman"/>
                <a:sym typeface="Times New Roman"/>
              </a:rPr>
              <a:t>Schematic circuit of final design with</a:t>
            </a:r>
            <a:endParaRPr/>
          </a:p>
          <a:p>
            <a:pPr indent="0" lvl="0" marL="0" rtl="0" algn="l">
              <a:spcBef>
                <a:spcPts val="0"/>
              </a:spcBef>
              <a:spcAft>
                <a:spcPts val="0"/>
              </a:spcAft>
              <a:buClr>
                <a:schemeClr val="dk1"/>
              </a:buClr>
              <a:buFont typeface="Times New Roman"/>
              <a:buNone/>
            </a:pPr>
            <a:r>
              <a:rPr i="1" lang="en-US">
                <a:solidFill>
                  <a:schemeClr val="dk1"/>
                </a:solidFill>
                <a:latin typeface="Times New Roman"/>
                <a:ea typeface="Times New Roman"/>
                <a:cs typeface="Times New Roman"/>
                <a:sym typeface="Times New Roman"/>
              </a:rPr>
              <a:t>component values.</a:t>
            </a:r>
            <a:endParaRPr/>
          </a:p>
          <a:p>
            <a:pPr indent="0" lvl="0" marL="0" rtl="0" algn="l">
              <a:spcBef>
                <a:spcPts val="0"/>
              </a:spcBef>
              <a:spcAft>
                <a:spcPts val="0"/>
              </a:spcAft>
              <a:buClr>
                <a:schemeClr val="dk1"/>
              </a:buClr>
              <a:buFont typeface="Times New Roman"/>
              <a:buNone/>
            </a:pPr>
            <a:r>
              <a:rPr i="1" lang="en-US">
                <a:solidFill>
                  <a:schemeClr val="dk1"/>
                </a:solidFill>
                <a:latin typeface="Times New Roman"/>
                <a:ea typeface="Times New Roman"/>
                <a:cs typeface="Times New Roman"/>
                <a:sym typeface="Times New Roman"/>
              </a:rPr>
              <a:t>Measured electrical response of hipass and</a:t>
            </a:r>
            <a:endParaRPr/>
          </a:p>
          <a:p>
            <a:pPr indent="0" lvl="0" marL="0" rtl="0" algn="l">
              <a:spcBef>
                <a:spcPts val="0"/>
              </a:spcBef>
              <a:spcAft>
                <a:spcPts val="0"/>
              </a:spcAft>
              <a:buClr>
                <a:schemeClr val="dk1"/>
              </a:buClr>
              <a:buFont typeface="Times New Roman"/>
              <a:buNone/>
            </a:pPr>
            <a:r>
              <a:rPr i="1" lang="en-US">
                <a:solidFill>
                  <a:schemeClr val="dk1"/>
                </a:solidFill>
                <a:latin typeface="Times New Roman"/>
                <a:ea typeface="Times New Roman"/>
                <a:cs typeface="Times New Roman"/>
                <a:sym typeface="Times New Roman"/>
              </a:rPr>
              <a:t>lopass sections with loudspeakers connected.</a:t>
            </a:r>
            <a:endParaRPr/>
          </a:p>
          <a:p>
            <a:pPr indent="0" lvl="0" marL="0" rtl="0" algn="l">
              <a:spcBef>
                <a:spcPts val="0"/>
              </a:spcBef>
              <a:spcAft>
                <a:spcPts val="0"/>
              </a:spcAft>
              <a:buClr>
                <a:schemeClr val="dk1"/>
              </a:buClr>
              <a:buFont typeface="Times New Roman"/>
              <a:buNone/>
            </a:pPr>
            <a:r>
              <a:rPr i="1" lang="en-US">
                <a:solidFill>
                  <a:schemeClr val="dk1"/>
                </a:solidFill>
                <a:latin typeface="Times New Roman"/>
                <a:ea typeface="Times New Roman"/>
                <a:cs typeface="Times New Roman"/>
                <a:sym typeface="Times New Roman"/>
              </a:rPr>
              <a:t>Describe any special features.  </a:t>
            </a:r>
            <a:endParaRPr/>
          </a:p>
          <a:p>
            <a:pPr indent="0" lvl="0" marL="0" rtl="0" algn="l">
              <a:spcBef>
                <a:spcPts val="0"/>
              </a:spcBef>
              <a:spcAft>
                <a:spcPts val="0"/>
              </a:spcAft>
              <a:buNone/>
            </a:pPr>
            <a:r>
              <a:t/>
            </a:r>
            <a:endParaRPr/>
          </a:p>
        </p:txBody>
      </p:sp>
      <p:sp>
        <p:nvSpPr>
          <p:cNvPr id="178" name="Google Shape;1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Boxwrx plot of response, excursion, and impedance.</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Box dimensions, internal volume, and vent dimensions.</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Front panel layout with important dimensions.</a:t>
            </a:r>
            <a:endParaRPr/>
          </a:p>
          <a:p>
            <a:pPr indent="0" lvl="0" marL="0" rtl="0" algn="l">
              <a:spcBef>
                <a:spcPts val="0"/>
              </a:spcBef>
              <a:spcAft>
                <a:spcPts val="0"/>
              </a:spcAft>
              <a:buNone/>
            </a:pPr>
            <a:r>
              <a:t/>
            </a:r>
            <a:endParaRPr/>
          </a:p>
        </p:txBody>
      </p:sp>
      <p:sp>
        <p:nvSpPr>
          <p:cNvPr id="186" name="Google Shape;1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p1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Show plot of complete system response and impedance.</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Show off-axis response if available.</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Show photo of final system.</a:t>
            </a:r>
            <a:endParaRPr/>
          </a:p>
          <a:p>
            <a:pPr indent="0" lvl="0" marL="0" rtl="0" algn="l">
              <a:spcBef>
                <a:spcPts val="0"/>
              </a:spcBef>
              <a:spcAft>
                <a:spcPts val="0"/>
              </a:spcAft>
              <a:buNone/>
            </a:pPr>
            <a:r>
              <a:t/>
            </a:r>
            <a:endParaRPr/>
          </a:p>
        </p:txBody>
      </p:sp>
      <p:sp>
        <p:nvSpPr>
          <p:cNvPr id="193" name="Google Shape;19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Project expenses per box -</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Condensed list of actual expenditures</a:t>
            </a:r>
            <a:endParaRPr/>
          </a:p>
          <a:p>
            <a:pPr indent="0" lvl="0" marL="0" rtl="0" algn="l">
              <a:spcBef>
                <a:spcPts val="0"/>
              </a:spcBef>
              <a:spcAft>
                <a:spcPts val="0"/>
              </a:spcAft>
              <a:buClr>
                <a:schemeClr val="dk1"/>
              </a:buClr>
              <a:buFont typeface="Times New Roman"/>
              <a:buNone/>
            </a:pPr>
            <a:r>
              <a:rPr i="1" lang="en-US" sz="2400">
                <a:solidFill>
                  <a:schemeClr val="dk1"/>
                </a:solidFill>
                <a:latin typeface="Times New Roman"/>
                <a:ea typeface="Times New Roman"/>
                <a:cs typeface="Times New Roman"/>
                <a:sym typeface="Times New Roman"/>
              </a:rPr>
              <a:t>and estimate of lumber cost.</a:t>
            </a:r>
            <a:endParaRPr/>
          </a:p>
          <a:p>
            <a:pPr indent="0" lvl="0" marL="0" rtl="0" algn="l">
              <a:spcBef>
                <a:spcPts val="0"/>
              </a:spcBef>
              <a:spcAft>
                <a:spcPts val="0"/>
              </a:spcAft>
              <a:buNone/>
            </a:pPr>
            <a:r>
              <a:t/>
            </a:r>
            <a:endParaRPr/>
          </a:p>
        </p:txBody>
      </p:sp>
      <p:sp>
        <p:nvSpPr>
          <p:cNvPr id="200" name="Google Shape;20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6" name="Shape 206"/>
        <p:cNvGrpSpPr/>
        <p:nvPr/>
      </p:nvGrpSpPr>
      <p:grpSpPr>
        <a:xfrm>
          <a:off x="0" y="0"/>
          <a:ext cx="0" cy="0"/>
          <a:chOff x="0" y="0"/>
          <a:chExt cx="0" cy="0"/>
        </a:xfrm>
      </p:grpSpPr>
      <p:sp>
        <p:nvSpPr>
          <p:cNvPr id="207" name="Google Shape;207;g2160a1f8b7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160a1f8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1" name="Shape 211"/>
        <p:cNvGrpSpPr/>
        <p:nvPr/>
      </p:nvGrpSpPr>
      <p:grpSpPr>
        <a:xfrm>
          <a:off x="0" y="0"/>
          <a:ext cx="0" cy="0"/>
          <a:chOff x="0" y="0"/>
          <a:chExt cx="0" cy="0"/>
        </a:xfrm>
      </p:grpSpPr>
      <p:sp>
        <p:nvSpPr>
          <p:cNvPr id="212" name="Google Shape;212;p1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What we do different with more times?</a:t>
            </a:r>
            <a:endParaRPr/>
          </a:p>
          <a:p>
            <a:pPr indent="-317500" lvl="0" marL="457200" rtl="0" algn="l">
              <a:spcBef>
                <a:spcPts val="0"/>
              </a:spcBef>
              <a:spcAft>
                <a:spcPts val="0"/>
              </a:spcAft>
              <a:buSzPts val="1400"/>
              <a:buChar char="-"/>
            </a:pPr>
            <a:r>
              <a:rPr lang="en-US"/>
              <a:t>We would have made subwoofer because our low frequencies weren’t as great as we predicted it to be.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would we do differently with more money?</a:t>
            </a:r>
            <a:endParaRPr/>
          </a:p>
          <a:p>
            <a:pPr indent="-317500" lvl="0" marL="457200" rtl="0" algn="l">
              <a:spcBef>
                <a:spcPts val="0"/>
              </a:spcBef>
              <a:spcAft>
                <a:spcPts val="0"/>
              </a:spcAft>
              <a:buSzPts val="1400"/>
              <a:buChar char="-"/>
            </a:pPr>
            <a:r>
              <a:rPr lang="en-US"/>
              <a:t>We would probably picked a better woofer</a:t>
            </a:r>
            <a:endParaRPr/>
          </a:p>
          <a:p>
            <a:pPr indent="-317500" lvl="0" marL="457200" rtl="0" algn="l">
              <a:spcBef>
                <a:spcPts val="0"/>
              </a:spcBef>
              <a:spcAft>
                <a:spcPts val="0"/>
              </a:spcAft>
              <a:buSzPts val="1400"/>
              <a:buChar char="-"/>
            </a:pPr>
            <a:r>
              <a:rPr lang="en-US"/>
              <a:t>We would definitely have made a subwoofer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would we do differently for an actual production prototype?</a:t>
            </a:r>
            <a:endParaRPr/>
          </a:p>
          <a:p>
            <a:pPr indent="-317500" lvl="0" marL="457200" rtl="0" algn="l">
              <a:spcBef>
                <a:spcPts val="0"/>
              </a:spcBef>
              <a:spcAft>
                <a:spcPts val="0"/>
              </a:spcAft>
              <a:buSzPts val="1400"/>
              <a:buChar char="-"/>
            </a:pPr>
            <a:r>
              <a:rPr lang="en-US"/>
              <a:t>We would </a:t>
            </a:r>
            <a:endParaRPr/>
          </a:p>
          <a:p>
            <a:pPr indent="0" lvl="0" marL="0" rtl="0" algn="l">
              <a:spcBef>
                <a:spcPts val="0"/>
              </a:spcBef>
              <a:spcAft>
                <a:spcPts val="0"/>
              </a:spcAft>
              <a:buNone/>
            </a:pPr>
            <a:r>
              <a:t/>
            </a:r>
            <a:endParaRPr/>
          </a:p>
        </p:txBody>
      </p:sp>
      <p:sp>
        <p:nvSpPr>
          <p:cNvPr id="213" name="Google Shape;21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7"/>
            <a:ext cx="3045625" cy="2707359"/>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2366963"/>
            <a:ext cx="8222100" cy="1118400"/>
          </a:xfrm>
          <a:prstGeom prst="rect">
            <a:avLst/>
          </a:prstGeom>
        </p:spPr>
        <p:txBody>
          <a:bodyPr anchorCtr="0" anchor="b" bIns="91425" lIns="91425" spcFirstLastPara="1" rIns="91425" wrap="square" tIns="91425"/>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3621217"/>
            <a:ext cx="8222100" cy="577200"/>
          </a:xfrm>
          <a:prstGeom prst="rect">
            <a:avLst/>
          </a:prstGeom>
        </p:spPr>
        <p:txBody>
          <a:bodyPr anchorCtr="0" anchor="t" bIns="91425" lIns="91425" spcFirstLastPara="1" rIns="91425" wrap="square" tIns="91425"/>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7"/>
            <a:ext cx="3045625" cy="2707359"/>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869796"/>
            <a:ext cx="8222100" cy="11184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5204762"/>
            <a:ext cx="9144000" cy="1653192"/>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546667"/>
            <a:ext cx="8520600" cy="8103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639833"/>
            <a:ext cx="8520600" cy="44520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546667"/>
            <a:ext cx="8520600" cy="8103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639967"/>
            <a:ext cx="3999900" cy="44520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639967"/>
            <a:ext cx="3999900" cy="44520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546667"/>
            <a:ext cx="8520600" cy="810300"/>
          </a:xfrm>
          <a:prstGeom prst="rect">
            <a:avLst/>
          </a:prstGeom>
        </p:spPr>
        <p:txBody>
          <a:bodyPr anchorCtr="0" anchor="t" bIns="91425" lIns="91425" spcFirstLastPara="1" rIns="91425" wrap="square" tIns="91425"/>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740800"/>
            <a:ext cx="2808000" cy="1007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954405"/>
            <a:ext cx="2808000" cy="41376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7"/>
            <a:ext cx="3045625" cy="2707359"/>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701800"/>
            <a:ext cx="5618700" cy="54543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233"/>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534800"/>
            <a:ext cx="4045200" cy="20859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3692002"/>
            <a:ext cx="4045200" cy="16923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965600"/>
            <a:ext cx="3837000" cy="4926900"/>
          </a:xfrm>
          <a:prstGeom prst="rect">
            <a:avLst/>
          </a:prstGeom>
        </p:spPr>
        <p:txBody>
          <a:bodyPr anchorCtr="0" anchor="ctr" bIns="91425" lIns="91425" spcFirstLastPara="1" rIns="91425" wrap="square" tIns="91425"/>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5640767"/>
            <a:ext cx="5998800" cy="7983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7"/>
            <a:ext cx="3045625" cy="2707359"/>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674733"/>
            <a:ext cx="8520600" cy="2707500"/>
          </a:xfrm>
          <a:prstGeom prst="rect">
            <a:avLst/>
          </a:prstGeom>
        </p:spPr>
        <p:txBody>
          <a:bodyPr anchorCtr="0" anchor="b" bIns="91425" lIns="91425" spcFirstLastPara="1" rIns="91425" wrap="square" tIns="91425"/>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4492300"/>
            <a:ext cx="8520600" cy="1709100"/>
          </a:xfrm>
          <a:prstGeom prst="rect">
            <a:avLst/>
          </a:prstGeom>
        </p:spPr>
        <p:txBody>
          <a:bodyPr anchorCtr="0" anchor="t" bIns="91425" lIns="91425" spcFirstLastPara="1" rIns="91425" wrap="square" tIns="91425"/>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6201587"/>
            <a:ext cx="548700" cy="5247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46667"/>
            <a:ext cx="8520600" cy="8103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639833"/>
            <a:ext cx="8520600" cy="44520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6201587"/>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3.jpg"/><Relationship Id="rId5" Type="http://schemas.openxmlformats.org/officeDocument/2006/relationships/image" Target="../media/image8.jpg"/><Relationship Id="rId6"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84" name="Shape 84"/>
        <p:cNvGrpSpPr/>
        <p:nvPr/>
      </p:nvGrpSpPr>
      <p:grpSpPr>
        <a:xfrm>
          <a:off x="0" y="0"/>
          <a:ext cx="0" cy="0"/>
          <a:chOff x="0" y="0"/>
          <a:chExt cx="0" cy="0"/>
        </a:xfrm>
      </p:grpSpPr>
      <p:sp>
        <p:nvSpPr>
          <p:cNvPr id="85" name="Google Shape;85;p13"/>
          <p:cNvSpPr txBox="1"/>
          <p:nvPr>
            <p:ph type="ctrTitle"/>
          </p:nvPr>
        </p:nvSpPr>
        <p:spPr>
          <a:xfrm>
            <a:off x="685800" y="1810100"/>
            <a:ext cx="77724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Font typeface="Tahoma"/>
              <a:buNone/>
            </a:pPr>
            <a:r>
              <a:rPr i="0" lang="en-US" sz="4400" u="none" cap="none" strike="noStrike">
                <a:solidFill>
                  <a:schemeClr val="dk2"/>
                </a:solidFill>
              </a:rPr>
              <a:t>EE 423 </a:t>
            </a:r>
            <a:r>
              <a:rPr lang="en-US" sz="4400">
                <a:solidFill>
                  <a:schemeClr val="dk2"/>
                </a:solidFill>
              </a:rPr>
              <a:t>Capstone</a:t>
            </a:r>
            <a:r>
              <a:rPr i="0" lang="en-US" sz="4400" u="none" cap="none" strike="noStrike">
                <a:solidFill>
                  <a:schemeClr val="dk2"/>
                </a:solidFill>
              </a:rPr>
              <a:t> Presentation</a:t>
            </a:r>
            <a:endParaRPr/>
          </a:p>
        </p:txBody>
      </p:sp>
      <p:sp>
        <p:nvSpPr>
          <p:cNvPr id="86" name="Google Shape;86;p13"/>
          <p:cNvSpPr txBox="1"/>
          <p:nvPr>
            <p:ph idx="1" type="subTitle"/>
          </p:nvPr>
        </p:nvSpPr>
        <p:spPr>
          <a:xfrm>
            <a:off x="1005150" y="3143750"/>
            <a:ext cx="7133700" cy="1143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Font typeface="Tahoma"/>
              <a:buNone/>
            </a:pPr>
            <a:r>
              <a:rPr lang="en-US" sz="2400">
                <a:solidFill>
                  <a:schemeClr val="dk1"/>
                </a:solidFill>
              </a:rPr>
              <a:t>By </a:t>
            </a:r>
            <a:r>
              <a:rPr i="0" lang="en-US" sz="2400" u="none" cap="none" strike="noStrike">
                <a:solidFill>
                  <a:schemeClr val="dk1"/>
                </a:solidFill>
              </a:rPr>
              <a:t>Team </a:t>
            </a:r>
            <a:r>
              <a:rPr lang="en-US" sz="2400">
                <a:solidFill>
                  <a:schemeClr val="dk1"/>
                </a:solidFill>
              </a:rPr>
              <a:t>6</a:t>
            </a:r>
            <a:endParaRPr sz="2400"/>
          </a:p>
          <a:p>
            <a:pPr indent="0" lvl="0" marL="0" marR="0" rtl="0" algn="ctr">
              <a:lnSpc>
                <a:spcPct val="100000"/>
              </a:lnSpc>
              <a:spcBef>
                <a:spcPts val="560"/>
              </a:spcBef>
              <a:spcAft>
                <a:spcPts val="0"/>
              </a:spcAft>
              <a:buClr>
                <a:schemeClr val="dk1"/>
              </a:buClr>
              <a:buFont typeface="Tahoma"/>
              <a:buNone/>
            </a:pPr>
            <a:r>
              <a:rPr lang="en-US" sz="2400">
                <a:solidFill>
                  <a:schemeClr val="dk1"/>
                </a:solidFill>
              </a:rPr>
              <a:t>Abigale Fernandez, Binh Phan, and Gabriel Rigney</a:t>
            </a:r>
            <a:endParaRPr sz="2400">
              <a:solidFill>
                <a:schemeClr val="dk1"/>
              </a:solidFill>
            </a:endParaRPr>
          </a:p>
          <a:p>
            <a:pPr indent="0" lvl="0" marL="0" marR="0" rtl="0" algn="ctr">
              <a:lnSpc>
                <a:spcPct val="100000"/>
              </a:lnSpc>
              <a:spcBef>
                <a:spcPts val="560"/>
              </a:spcBef>
              <a:spcAft>
                <a:spcPts val="0"/>
              </a:spcAft>
              <a:buClr>
                <a:schemeClr val="dk1"/>
              </a:buClr>
              <a:buFont typeface="Tahoma"/>
              <a:buNone/>
            </a:pPr>
            <a:r>
              <a:t/>
            </a:r>
            <a:endParaRPr sz="2400">
              <a:solidFill>
                <a:schemeClr val="dk1"/>
              </a:solidFill>
            </a:endParaRPr>
          </a:p>
          <a:p>
            <a:pPr indent="0" lvl="0" marL="0" marR="0" rtl="0" algn="ctr">
              <a:lnSpc>
                <a:spcPct val="100000"/>
              </a:lnSpc>
              <a:spcBef>
                <a:spcPts val="560"/>
              </a:spcBef>
              <a:spcAft>
                <a:spcPts val="0"/>
              </a:spcAft>
              <a:buClr>
                <a:schemeClr val="dk1"/>
              </a:buClr>
              <a:buFont typeface="Tahoma"/>
              <a:buNone/>
            </a:pPr>
            <a:r>
              <a:rPr lang="en-US" sz="2400">
                <a:solidFill>
                  <a:schemeClr val="dk1"/>
                </a:solidFill>
              </a:rPr>
              <a:t>Senior Level Electrical Engineering</a:t>
            </a:r>
            <a:endParaRPr sz="24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0" name="Shape 90"/>
        <p:cNvGrpSpPr/>
        <p:nvPr/>
      </p:nvGrpSpPr>
      <p:grpSpPr>
        <a:xfrm>
          <a:off x="0" y="0"/>
          <a:ext cx="0" cy="0"/>
          <a:chOff x="0" y="0"/>
          <a:chExt cx="0" cy="0"/>
        </a:xfrm>
      </p:grpSpPr>
      <p:sp>
        <p:nvSpPr>
          <p:cNvPr id="91" name="Google Shape;91;p14"/>
          <p:cNvSpPr txBox="1"/>
          <p:nvPr/>
        </p:nvSpPr>
        <p:spPr>
          <a:xfrm>
            <a:off x="311700" y="590775"/>
            <a:ext cx="6504000" cy="57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Outline</a:t>
            </a:r>
            <a:r>
              <a:rPr b="1" i="0" lang="en-US" sz="3200" u="none">
                <a:solidFill>
                  <a:schemeClr val="dk1"/>
                </a:solidFill>
                <a:latin typeface="Roboto"/>
                <a:ea typeface="Roboto"/>
                <a:cs typeface="Roboto"/>
                <a:sym typeface="Roboto"/>
              </a:rPr>
              <a:t>:</a:t>
            </a:r>
            <a:endParaRPr b="1">
              <a:latin typeface="Roboto"/>
              <a:ea typeface="Roboto"/>
              <a:cs typeface="Roboto"/>
              <a:sym typeface="Roboto"/>
            </a:endParaRPr>
          </a:p>
        </p:txBody>
      </p:sp>
      <p:sp>
        <p:nvSpPr>
          <p:cNvPr id="92" name="Google Shape;92;p14"/>
          <p:cNvSpPr txBox="1"/>
          <p:nvPr/>
        </p:nvSpPr>
        <p:spPr>
          <a:xfrm>
            <a:off x="411150" y="1131475"/>
            <a:ext cx="8397900" cy="4137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Project Goals</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Drivers Considered</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Driver Specifications</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Construction</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Testing</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Performance</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System Cost</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Future Work</a:t>
            </a:r>
            <a:endParaRPr sz="24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6" name="Shape 96"/>
        <p:cNvGrpSpPr/>
        <p:nvPr/>
      </p:nvGrpSpPr>
      <p:grpSpPr>
        <a:xfrm>
          <a:off x="0" y="0"/>
          <a:ext cx="0" cy="0"/>
          <a:chOff x="0" y="0"/>
          <a:chExt cx="0" cy="0"/>
        </a:xfrm>
      </p:grpSpPr>
      <p:pic>
        <p:nvPicPr>
          <p:cNvPr descr="74FB35F0DC294D04AF2E48A521015110_12073.jpg" id="97" name="Google Shape;97;p15"/>
          <p:cNvPicPr preferRelativeResize="0"/>
          <p:nvPr/>
        </p:nvPicPr>
        <p:blipFill rotWithShape="1">
          <a:blip r:embed="rId3">
            <a:alphaModFix/>
          </a:blip>
          <a:srcRect b="6882" l="25421" r="24995" t="23382"/>
          <a:stretch/>
        </p:blipFill>
        <p:spPr>
          <a:xfrm>
            <a:off x="188050" y="1170075"/>
            <a:ext cx="3582251" cy="5038400"/>
          </a:xfrm>
          <a:prstGeom prst="rect">
            <a:avLst/>
          </a:prstGeom>
          <a:noFill/>
          <a:ln>
            <a:noFill/>
          </a:ln>
        </p:spPr>
      </p:pic>
      <p:sp>
        <p:nvSpPr>
          <p:cNvPr id="98" name="Google Shape;98;p15"/>
          <p:cNvSpPr txBox="1"/>
          <p:nvPr/>
        </p:nvSpPr>
        <p:spPr>
          <a:xfrm>
            <a:off x="311700" y="590775"/>
            <a:ext cx="6504000" cy="57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Roboto"/>
                <a:ea typeface="Roboto"/>
                <a:cs typeface="Roboto"/>
                <a:sym typeface="Roboto"/>
              </a:rPr>
              <a:t>Project </a:t>
            </a:r>
            <a:r>
              <a:rPr b="1" lang="en-US" sz="3200">
                <a:solidFill>
                  <a:schemeClr val="dk1"/>
                </a:solidFill>
                <a:latin typeface="Roboto"/>
                <a:ea typeface="Roboto"/>
                <a:cs typeface="Roboto"/>
                <a:sym typeface="Roboto"/>
              </a:rPr>
              <a:t>G</a:t>
            </a:r>
            <a:r>
              <a:rPr b="1" i="0" lang="en-US" sz="3200" u="none">
                <a:solidFill>
                  <a:schemeClr val="dk1"/>
                </a:solidFill>
                <a:latin typeface="Roboto"/>
                <a:ea typeface="Roboto"/>
                <a:cs typeface="Roboto"/>
                <a:sym typeface="Roboto"/>
              </a:rPr>
              <a:t>oals:</a:t>
            </a:r>
            <a:endParaRPr b="1">
              <a:latin typeface="Roboto"/>
              <a:ea typeface="Roboto"/>
              <a:cs typeface="Roboto"/>
              <a:sym typeface="Roboto"/>
            </a:endParaRPr>
          </a:p>
        </p:txBody>
      </p:sp>
      <p:sp>
        <p:nvSpPr>
          <p:cNvPr id="99" name="Google Shape;99;p15"/>
          <p:cNvSpPr txBox="1"/>
          <p:nvPr/>
        </p:nvSpPr>
        <p:spPr>
          <a:xfrm>
            <a:off x="3519350" y="1600500"/>
            <a:ext cx="5583600" cy="3029700"/>
          </a:xfrm>
          <a:prstGeom prst="rect">
            <a:avLst/>
          </a:prstGeom>
          <a:noFill/>
          <a:ln>
            <a:noFill/>
          </a:ln>
        </p:spPr>
        <p:txBody>
          <a:bodyPr anchorCtr="0" anchor="t" bIns="45700" lIns="91425" spcFirstLastPara="1" rIns="91425" wrap="square" tIns="45700">
            <a:noAutofit/>
          </a:bodyPr>
          <a:lstStyle/>
          <a:p>
            <a:pPr indent="25400" lvl="0" marL="0" marR="0" rtl="0" algn="l">
              <a:lnSpc>
                <a:spcPct val="100000"/>
              </a:lnSpc>
              <a:spcBef>
                <a:spcPts val="0"/>
              </a:spcBef>
              <a:spcAft>
                <a:spcPts val="0"/>
              </a:spcAft>
              <a:buClr>
                <a:schemeClr val="dk1"/>
              </a:buClr>
              <a:buSzPts val="2000"/>
              <a:buFont typeface="Roboto"/>
              <a:buChar char="•"/>
            </a:pPr>
            <a:r>
              <a:rPr i="0" lang="en-US" sz="2000" u="none">
                <a:solidFill>
                  <a:schemeClr val="dk1"/>
                </a:solidFill>
                <a:latin typeface="Roboto"/>
                <a:ea typeface="Roboto"/>
                <a:cs typeface="Roboto"/>
                <a:sym typeface="Roboto"/>
              </a:rPr>
              <a:t>Intended </a:t>
            </a:r>
            <a:r>
              <a:rPr lang="en-US" sz="2000">
                <a:solidFill>
                  <a:schemeClr val="dk1"/>
                </a:solidFill>
                <a:latin typeface="Roboto"/>
                <a:ea typeface="Roboto"/>
                <a:cs typeface="Roboto"/>
                <a:sym typeface="Roboto"/>
              </a:rPr>
              <a:t>D</a:t>
            </a:r>
            <a:r>
              <a:rPr i="0" lang="en-US" sz="2000" u="none">
                <a:solidFill>
                  <a:schemeClr val="dk1"/>
                </a:solidFill>
                <a:latin typeface="Roboto"/>
                <a:ea typeface="Roboto"/>
                <a:cs typeface="Roboto"/>
                <a:sym typeface="Roboto"/>
              </a:rPr>
              <a:t>esign: </a:t>
            </a:r>
            <a:r>
              <a:rPr lang="en-US" sz="2000">
                <a:solidFill>
                  <a:schemeClr val="dk1"/>
                </a:solidFill>
                <a:latin typeface="Roboto"/>
                <a:ea typeface="Roboto"/>
                <a:cs typeface="Roboto"/>
                <a:sym typeface="Roboto"/>
              </a:rPr>
              <a:t>Studio monitors</a:t>
            </a:r>
            <a:endParaRPr sz="2000">
              <a:solidFill>
                <a:schemeClr val="dk1"/>
              </a:solidFill>
              <a:latin typeface="Roboto"/>
              <a:ea typeface="Roboto"/>
              <a:cs typeface="Roboto"/>
              <a:sym typeface="Roboto"/>
            </a:endParaRPr>
          </a:p>
          <a:p>
            <a:pPr indent="25400" lvl="0" marL="0" rtl="0" algn="l">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Inspiration: Yamaha HS7 studio monitors</a:t>
            </a:r>
            <a:endParaRPr sz="2000">
              <a:solidFill>
                <a:schemeClr val="dk1"/>
              </a:solidFill>
              <a:latin typeface="Roboto"/>
              <a:ea typeface="Roboto"/>
              <a:cs typeface="Roboto"/>
              <a:sym typeface="Roboto"/>
            </a:endParaRPr>
          </a:p>
          <a:p>
            <a:pPr indent="25400" lvl="0" marL="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Approximately 1 cubic foot in volume</a:t>
            </a:r>
            <a:endParaRPr sz="2000">
              <a:solidFill>
                <a:schemeClr val="dk1"/>
              </a:solidFill>
              <a:latin typeface="Roboto"/>
              <a:ea typeface="Roboto"/>
              <a:cs typeface="Roboto"/>
              <a:sym typeface="Roboto"/>
            </a:endParaRPr>
          </a:p>
          <a:p>
            <a:pPr indent="25400" lvl="0" marL="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Fairly high quality sound for affordable to</a:t>
            </a:r>
            <a:br>
              <a:rPr lang="en-US" sz="2000">
                <a:solidFill>
                  <a:schemeClr val="dk1"/>
                </a:solidFill>
                <a:latin typeface="Roboto"/>
                <a:ea typeface="Roboto"/>
                <a:cs typeface="Roboto"/>
                <a:sym typeface="Roboto"/>
              </a:rPr>
            </a:br>
            <a:r>
              <a:rPr lang="en-US" sz="2000">
                <a:solidFill>
                  <a:schemeClr val="dk1"/>
                </a:solidFill>
                <a:latin typeface="Roboto"/>
                <a:ea typeface="Roboto"/>
                <a:cs typeface="Roboto"/>
                <a:sym typeface="Roboto"/>
              </a:rPr>
              <a:t>	mid-price range</a:t>
            </a:r>
            <a:endParaRPr sz="2000">
              <a:solidFill>
                <a:schemeClr val="dk1"/>
              </a:solidFill>
              <a:latin typeface="Roboto"/>
              <a:ea typeface="Roboto"/>
              <a:cs typeface="Roboto"/>
              <a:sym typeface="Roboto"/>
            </a:endParaRPr>
          </a:p>
          <a:p>
            <a:pPr indent="25400" lvl="0" marL="0" marR="0" rtl="0" algn="l">
              <a:lnSpc>
                <a:spcPct val="100000"/>
              </a:lnSpc>
              <a:spcBef>
                <a:spcPts val="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Desired </a:t>
            </a:r>
            <a:r>
              <a:rPr i="0" lang="en-US" sz="2000" u="none">
                <a:solidFill>
                  <a:schemeClr val="dk1"/>
                </a:solidFill>
                <a:latin typeface="Roboto"/>
                <a:ea typeface="Roboto"/>
                <a:cs typeface="Roboto"/>
                <a:sym typeface="Roboto"/>
              </a:rPr>
              <a:t>40 Hz</a:t>
            </a:r>
            <a:r>
              <a:rPr lang="en-US" sz="2000">
                <a:solidFill>
                  <a:schemeClr val="dk1"/>
                </a:solidFill>
                <a:latin typeface="Roboto"/>
                <a:ea typeface="Roboto"/>
                <a:cs typeface="Roboto"/>
                <a:sym typeface="Roboto"/>
              </a:rPr>
              <a:t>-20 </a:t>
            </a:r>
            <a:r>
              <a:rPr i="0" lang="en-US" sz="2000" u="none">
                <a:solidFill>
                  <a:schemeClr val="dk1"/>
                </a:solidFill>
                <a:latin typeface="Roboto"/>
                <a:ea typeface="Roboto"/>
                <a:cs typeface="Roboto"/>
                <a:sym typeface="Roboto"/>
              </a:rPr>
              <a:t>kHz</a:t>
            </a:r>
            <a:r>
              <a:rPr lang="en-US" sz="2000">
                <a:solidFill>
                  <a:schemeClr val="dk1"/>
                </a:solidFill>
                <a:latin typeface="Roboto"/>
                <a:ea typeface="Roboto"/>
                <a:cs typeface="Roboto"/>
                <a:sym typeface="Roboto"/>
              </a:rPr>
              <a:t> frequency </a:t>
            </a:r>
            <a:endParaRPr sz="20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None/>
            </a:pPr>
            <a:r>
              <a:rPr lang="en-US" sz="2000">
                <a:solidFill>
                  <a:schemeClr val="dk1"/>
                </a:solidFill>
                <a:latin typeface="Roboto"/>
                <a:ea typeface="Roboto"/>
                <a:cs typeface="Roboto"/>
                <a:sym typeface="Roboto"/>
              </a:rPr>
              <a:t>response, while staying well under our budget of $375</a:t>
            </a:r>
            <a:endParaRPr sz="2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20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03" name="Shape 103"/>
        <p:cNvGrpSpPr/>
        <p:nvPr/>
      </p:nvGrpSpPr>
      <p:grpSpPr>
        <a:xfrm>
          <a:off x="0" y="0"/>
          <a:ext cx="0" cy="0"/>
          <a:chOff x="0" y="0"/>
          <a:chExt cx="0" cy="0"/>
        </a:xfrm>
      </p:grpSpPr>
      <p:sp>
        <p:nvSpPr>
          <p:cNvPr id="104" name="Google Shape;104;p16"/>
          <p:cNvSpPr txBox="1"/>
          <p:nvPr/>
        </p:nvSpPr>
        <p:spPr>
          <a:xfrm>
            <a:off x="1143000" y="1066800"/>
            <a:ext cx="6934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 name="Google Shape;105;p16"/>
          <p:cNvSpPr txBox="1"/>
          <p:nvPr/>
        </p:nvSpPr>
        <p:spPr>
          <a:xfrm>
            <a:off x="1371600" y="1524000"/>
            <a:ext cx="6477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 name="Google Shape;106;p16"/>
          <p:cNvSpPr txBox="1"/>
          <p:nvPr/>
        </p:nvSpPr>
        <p:spPr>
          <a:xfrm>
            <a:off x="411150" y="487500"/>
            <a:ext cx="4073700" cy="57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Roboto"/>
                <a:ea typeface="Roboto"/>
                <a:cs typeface="Roboto"/>
                <a:sym typeface="Roboto"/>
              </a:rPr>
              <a:t>Project</a:t>
            </a:r>
            <a:r>
              <a:rPr b="1" lang="en-US" sz="3200">
                <a:solidFill>
                  <a:schemeClr val="dk1"/>
                </a:solidFill>
                <a:latin typeface="Roboto"/>
                <a:ea typeface="Roboto"/>
                <a:cs typeface="Roboto"/>
                <a:sym typeface="Roboto"/>
              </a:rPr>
              <a:t> </a:t>
            </a:r>
            <a:r>
              <a:rPr b="1" i="0" lang="en-US" sz="3200" u="none">
                <a:solidFill>
                  <a:schemeClr val="dk1"/>
                </a:solidFill>
                <a:latin typeface="Roboto"/>
                <a:ea typeface="Roboto"/>
                <a:cs typeface="Roboto"/>
                <a:sym typeface="Roboto"/>
              </a:rPr>
              <a:t>Focus:</a:t>
            </a:r>
            <a:endParaRPr b="1">
              <a:latin typeface="Roboto"/>
              <a:ea typeface="Roboto"/>
              <a:cs typeface="Roboto"/>
              <a:sym typeface="Roboto"/>
            </a:endParaRPr>
          </a:p>
        </p:txBody>
      </p:sp>
      <p:sp>
        <p:nvSpPr>
          <p:cNvPr id="107" name="Google Shape;107;p16"/>
          <p:cNvSpPr txBox="1"/>
          <p:nvPr/>
        </p:nvSpPr>
        <p:spPr>
          <a:xfrm>
            <a:off x="411150" y="1131475"/>
            <a:ext cx="8397900" cy="4137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Vented box design chosen to keep volume size to </a:t>
            </a:r>
            <a:endParaRPr sz="2400">
              <a:solidFill>
                <a:schemeClr val="dk1"/>
              </a:solidFill>
              <a:latin typeface="Roboto"/>
              <a:ea typeface="Roboto"/>
              <a:cs typeface="Roboto"/>
              <a:sym typeface="Roboto"/>
            </a:endParaRPr>
          </a:p>
          <a:p>
            <a:pPr indent="457200" lvl="0" marL="0" rtl="0" algn="l">
              <a:spcBef>
                <a:spcPts val="0"/>
              </a:spcBef>
              <a:spcAft>
                <a:spcPts val="0"/>
              </a:spcAft>
              <a:buNone/>
            </a:pPr>
            <a:r>
              <a:rPr lang="en-US" sz="2400">
                <a:solidFill>
                  <a:schemeClr val="dk1"/>
                </a:solidFill>
                <a:latin typeface="Roboto"/>
                <a:ea typeface="Roboto"/>
                <a:cs typeface="Roboto"/>
                <a:sym typeface="Roboto"/>
              </a:rPr>
              <a:t>desired volume of 1 cubic foot</a:t>
            </a:r>
            <a:endParaRPr>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i="0" lang="en-US" sz="2400" u="none">
                <a:solidFill>
                  <a:schemeClr val="dk1"/>
                </a:solidFill>
                <a:latin typeface="Roboto"/>
                <a:ea typeface="Roboto"/>
                <a:cs typeface="Roboto"/>
                <a:sym typeface="Roboto"/>
              </a:rPr>
              <a:t>Cross</a:t>
            </a:r>
            <a:r>
              <a:rPr lang="en-US" sz="2400">
                <a:solidFill>
                  <a:schemeClr val="dk1"/>
                </a:solidFill>
                <a:latin typeface="Roboto"/>
                <a:ea typeface="Roboto"/>
                <a:cs typeface="Roboto"/>
                <a:sym typeface="Roboto"/>
              </a:rPr>
              <a:t>over network to keep response as flat as possible </a:t>
            </a:r>
            <a:endParaRPr sz="2400">
              <a:solidFill>
                <a:schemeClr val="dk1"/>
              </a:solidFill>
              <a:latin typeface="Roboto"/>
              <a:ea typeface="Roboto"/>
              <a:cs typeface="Roboto"/>
              <a:sym typeface="Roboto"/>
            </a:endParaRPr>
          </a:p>
          <a:p>
            <a:pPr indent="457200" lvl="0" marL="0" marR="0" rtl="0" algn="l">
              <a:lnSpc>
                <a:spcPct val="100000"/>
              </a:lnSpc>
              <a:spcBef>
                <a:spcPts val="0"/>
              </a:spcBef>
              <a:spcAft>
                <a:spcPts val="0"/>
              </a:spcAft>
              <a:buNone/>
            </a:pPr>
            <a:r>
              <a:rPr lang="en-US" sz="2400">
                <a:solidFill>
                  <a:schemeClr val="dk1"/>
                </a:solidFill>
                <a:latin typeface="Roboto"/>
                <a:ea typeface="Roboto"/>
                <a:cs typeface="Roboto"/>
                <a:sym typeface="Roboto"/>
              </a:rPr>
              <a:t>with a crossover frequency around 1.6 kHz</a:t>
            </a:r>
            <a:endParaRPr>
              <a:latin typeface="Roboto"/>
              <a:ea typeface="Roboto"/>
              <a:cs typeface="Roboto"/>
              <a:sym typeface="Roboto"/>
            </a:endParaRPr>
          </a:p>
          <a:p>
            <a:pPr indent="0" lvl="0" marL="0" marR="0" rtl="0" algn="l">
              <a:lnSpc>
                <a:spcPct val="100000"/>
              </a:lnSpc>
              <a:spcBef>
                <a:spcPts val="0"/>
              </a:spcBef>
              <a:spcAft>
                <a:spcPts val="0"/>
              </a:spcAft>
              <a:buNone/>
            </a:pPr>
            <a:r>
              <a:t/>
            </a:r>
            <a:endParaRPr sz="48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Vented box, 16” height, 9.5” width, 11” length </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Total External Volume: .97 cubic ft, 27.4 liters</a:t>
            </a:r>
            <a:endParaRPr sz="24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Total Internal Volume:  .69 cubic ft, 19.4 liters</a:t>
            </a:r>
            <a:endParaRPr i="0" sz="2400" u="non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400"/>
              <a:buFont typeface="Roboto"/>
              <a:buChar char="•"/>
            </a:pPr>
            <a:r>
              <a:rPr lang="en-US" sz="2400">
                <a:solidFill>
                  <a:schemeClr val="dk1"/>
                </a:solidFill>
                <a:latin typeface="Roboto"/>
                <a:ea typeface="Roboto"/>
                <a:cs typeface="Roboto"/>
                <a:sym typeface="Roboto"/>
              </a:rPr>
              <a:t>Budget: $137.13 per box ($138.52 under budget!)</a:t>
            </a:r>
            <a:endParaRPr sz="2400">
              <a:solidFill>
                <a:schemeClr val="dk1"/>
              </a:solidFill>
              <a:latin typeface="Roboto"/>
              <a:ea typeface="Roboto"/>
              <a:cs typeface="Roboto"/>
              <a:sym typeface="Roboto"/>
            </a:endParaRPr>
          </a:p>
        </p:txBody>
      </p:sp>
      <p:sp>
        <p:nvSpPr>
          <p:cNvPr id="108" name="Google Shape;108;p16"/>
          <p:cNvSpPr txBox="1"/>
          <p:nvPr/>
        </p:nvSpPr>
        <p:spPr>
          <a:xfrm>
            <a:off x="411150" y="2716150"/>
            <a:ext cx="3386100" cy="74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Roboto"/>
                <a:ea typeface="Roboto"/>
                <a:cs typeface="Roboto"/>
                <a:sym typeface="Roboto"/>
              </a:rPr>
              <a:t>Project Results:</a:t>
            </a:r>
            <a:endParaRPr b="1">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311700" y="546667"/>
            <a:ext cx="8520600" cy="8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Drivers Considered</a:t>
            </a:r>
            <a:endParaRPr b="1"/>
          </a:p>
        </p:txBody>
      </p:sp>
      <p:sp>
        <p:nvSpPr>
          <p:cNvPr id="114" name="Google Shape;114;p17"/>
          <p:cNvSpPr txBox="1"/>
          <p:nvPr>
            <p:ph idx="1" type="body"/>
          </p:nvPr>
        </p:nvSpPr>
        <p:spPr>
          <a:xfrm>
            <a:off x="311700" y="1639833"/>
            <a:ext cx="8520600" cy="445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400"/>
              <a:buFont typeface="Roboto"/>
              <a:buChar char="•"/>
            </a:pPr>
            <a:r>
              <a:rPr lang="en-US" sz="2400">
                <a:solidFill>
                  <a:schemeClr val="dk1"/>
                </a:solidFill>
              </a:rPr>
              <a:t>Drivers chosen based on recommended design volume.</a:t>
            </a:r>
            <a:endParaRPr sz="2400">
              <a:solidFill>
                <a:schemeClr val="dk1"/>
              </a:solidFill>
            </a:endParaRPr>
          </a:p>
          <a:p>
            <a:pPr indent="0" lvl="0" marL="0" rtl="0" algn="l">
              <a:lnSpc>
                <a:spcPct val="100000"/>
              </a:lnSpc>
              <a:spcBef>
                <a:spcPts val="0"/>
              </a:spcBef>
              <a:spcAft>
                <a:spcPts val="0"/>
              </a:spcAft>
              <a:buClr>
                <a:schemeClr val="dk1"/>
              </a:buClr>
              <a:buSzPts val="2400"/>
              <a:buFont typeface="Roboto"/>
              <a:buChar char="•"/>
            </a:pPr>
            <a:r>
              <a:rPr lang="en-US" sz="2400">
                <a:solidFill>
                  <a:schemeClr val="dk1"/>
                </a:solidFill>
              </a:rPr>
              <a:t>Two Goldwood woofers considered, (6.5” &amp; 8” diameters) </a:t>
            </a:r>
            <a:endParaRPr sz="2400">
              <a:solidFill>
                <a:schemeClr val="dk1"/>
              </a:solidFill>
            </a:endParaRPr>
          </a:p>
          <a:p>
            <a:pPr indent="457200" lvl="0" marL="0" rtl="0" algn="l">
              <a:lnSpc>
                <a:spcPct val="100000"/>
              </a:lnSpc>
              <a:spcBef>
                <a:spcPts val="0"/>
              </a:spcBef>
              <a:spcAft>
                <a:spcPts val="0"/>
              </a:spcAft>
              <a:buNone/>
            </a:pPr>
            <a:r>
              <a:rPr lang="en-US" sz="2400">
                <a:solidFill>
                  <a:schemeClr val="dk1"/>
                </a:solidFill>
              </a:rPr>
              <a:t>Ultimately, we decided on a 6.5” Pyramid woofer as it </a:t>
            </a:r>
            <a:endParaRPr sz="2400">
              <a:solidFill>
                <a:schemeClr val="dk1"/>
              </a:solidFill>
            </a:endParaRPr>
          </a:p>
          <a:p>
            <a:pPr indent="457200" lvl="0" marL="0" rtl="0" algn="l">
              <a:lnSpc>
                <a:spcPct val="100000"/>
              </a:lnSpc>
              <a:spcBef>
                <a:spcPts val="0"/>
              </a:spcBef>
              <a:spcAft>
                <a:spcPts val="0"/>
              </a:spcAft>
              <a:buNone/>
            </a:pPr>
            <a:r>
              <a:rPr lang="en-US" sz="2400">
                <a:solidFill>
                  <a:schemeClr val="dk1"/>
                </a:solidFill>
              </a:rPr>
              <a:t>provided the best quality compared to its cost ($19.50)</a:t>
            </a:r>
            <a:endParaRPr sz="1400">
              <a:solidFill>
                <a:srgbClr val="000000"/>
              </a:solidFill>
            </a:endParaRPr>
          </a:p>
          <a:p>
            <a:pPr indent="0" lvl="0" marL="0" rtl="0" algn="l">
              <a:lnSpc>
                <a:spcPct val="100000"/>
              </a:lnSpc>
              <a:spcBef>
                <a:spcPts val="0"/>
              </a:spcBef>
              <a:spcAft>
                <a:spcPts val="0"/>
              </a:spcAft>
              <a:buClr>
                <a:schemeClr val="dk1"/>
              </a:buClr>
              <a:buSzPts val="2400"/>
              <a:buFont typeface="Roboto"/>
              <a:buChar char="•"/>
            </a:pPr>
            <a:r>
              <a:rPr lang="en-US" sz="2400">
                <a:solidFill>
                  <a:schemeClr val="dk1"/>
                </a:solidFill>
              </a:rPr>
              <a:t>Various Dayton tweeters considered. Ultimately, a 1⅛” silk </a:t>
            </a:r>
            <a:endParaRPr sz="2400">
              <a:solidFill>
                <a:schemeClr val="dk1"/>
              </a:solidFill>
            </a:endParaRPr>
          </a:p>
          <a:p>
            <a:pPr indent="0" lvl="0" marL="457200" rtl="0" algn="l">
              <a:lnSpc>
                <a:spcPct val="100000"/>
              </a:lnSpc>
              <a:spcBef>
                <a:spcPts val="0"/>
              </a:spcBef>
              <a:spcAft>
                <a:spcPts val="0"/>
              </a:spcAft>
              <a:buNone/>
            </a:pPr>
            <a:r>
              <a:rPr lang="en-US" sz="2400">
                <a:solidFill>
                  <a:schemeClr val="dk1"/>
                </a:solidFill>
              </a:rPr>
              <a:t>dome tweeter was chosen, again because of the value of its performance compared to cost ($19.75)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pic>
        <p:nvPicPr>
          <p:cNvPr descr="290-270_ALT_1.jpg" id="119" name="Google Shape;119;p18"/>
          <p:cNvPicPr preferRelativeResize="0"/>
          <p:nvPr/>
        </p:nvPicPr>
        <p:blipFill>
          <a:blip r:embed="rId3">
            <a:alphaModFix/>
          </a:blip>
          <a:stretch>
            <a:fillRect/>
          </a:stretch>
        </p:blipFill>
        <p:spPr>
          <a:xfrm>
            <a:off x="311701" y="1357001"/>
            <a:ext cx="4670026" cy="4670026"/>
          </a:xfrm>
          <a:prstGeom prst="rect">
            <a:avLst/>
          </a:prstGeom>
          <a:noFill/>
          <a:ln>
            <a:noFill/>
          </a:ln>
        </p:spPr>
      </p:pic>
      <p:sp>
        <p:nvSpPr>
          <p:cNvPr id="120" name="Google Shape;120;p18"/>
          <p:cNvSpPr txBox="1"/>
          <p:nvPr>
            <p:ph type="title"/>
          </p:nvPr>
        </p:nvSpPr>
        <p:spPr>
          <a:xfrm>
            <a:off x="311700" y="290600"/>
            <a:ext cx="8520600" cy="87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Pyramid WX65X</a:t>
            </a:r>
            <a:endParaRPr b="1"/>
          </a:p>
          <a:p>
            <a:pPr indent="0" lvl="0" marL="0" rtl="0" algn="l">
              <a:spcBef>
                <a:spcPts val="0"/>
              </a:spcBef>
              <a:spcAft>
                <a:spcPts val="0"/>
              </a:spcAft>
              <a:buNone/>
            </a:pPr>
            <a:r>
              <a:rPr b="1" lang="en-US"/>
              <a:t>6-½“ White Poly Woofer</a:t>
            </a:r>
            <a:endParaRPr b="1"/>
          </a:p>
        </p:txBody>
      </p:sp>
      <p:sp>
        <p:nvSpPr>
          <p:cNvPr id="121" name="Google Shape;121;p18"/>
          <p:cNvSpPr txBox="1"/>
          <p:nvPr>
            <p:ph idx="1" type="body"/>
          </p:nvPr>
        </p:nvSpPr>
        <p:spPr>
          <a:xfrm>
            <a:off x="5153200" y="2373150"/>
            <a:ext cx="3582300" cy="2111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2400">
                <a:solidFill>
                  <a:schemeClr val="dk1"/>
                </a:solidFill>
                <a:latin typeface="Arial"/>
                <a:ea typeface="Arial"/>
                <a:cs typeface="Arial"/>
                <a:sym typeface="Arial"/>
              </a:rPr>
              <a:t>6.5” Pyramid woofer provided great quality compared to its relatively low cost of $19.50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25" name="Shape 125"/>
        <p:cNvGrpSpPr/>
        <p:nvPr/>
      </p:nvGrpSpPr>
      <p:grpSpPr>
        <a:xfrm>
          <a:off x="0" y="0"/>
          <a:ext cx="0" cy="0"/>
          <a:chOff x="0" y="0"/>
          <a:chExt cx="0" cy="0"/>
        </a:xfrm>
      </p:grpSpPr>
      <p:sp>
        <p:nvSpPr>
          <p:cNvPr id="126" name="Google Shape;126;p19"/>
          <p:cNvSpPr txBox="1"/>
          <p:nvPr/>
        </p:nvSpPr>
        <p:spPr>
          <a:xfrm>
            <a:off x="96975" y="240500"/>
            <a:ext cx="4944300" cy="57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Woofer Specifications</a:t>
            </a:r>
            <a:r>
              <a:rPr b="1" i="0" lang="en-US" sz="3200" u="none">
                <a:solidFill>
                  <a:schemeClr val="dk1"/>
                </a:solidFill>
                <a:latin typeface="Roboto"/>
                <a:ea typeface="Roboto"/>
                <a:cs typeface="Roboto"/>
                <a:sym typeface="Roboto"/>
              </a:rPr>
              <a:t>:</a:t>
            </a:r>
            <a:endParaRPr b="1">
              <a:latin typeface="Roboto"/>
              <a:ea typeface="Roboto"/>
              <a:cs typeface="Roboto"/>
              <a:sym typeface="Roboto"/>
            </a:endParaRPr>
          </a:p>
        </p:txBody>
      </p:sp>
      <p:pic>
        <p:nvPicPr>
          <p:cNvPr descr="woofer spec snip.PNG" id="127" name="Google Shape;127;p19"/>
          <p:cNvPicPr preferRelativeResize="0"/>
          <p:nvPr/>
        </p:nvPicPr>
        <p:blipFill>
          <a:blip r:embed="rId3">
            <a:alphaModFix/>
          </a:blip>
          <a:stretch>
            <a:fillRect/>
          </a:stretch>
        </p:blipFill>
        <p:spPr>
          <a:xfrm>
            <a:off x="96975" y="896638"/>
            <a:ext cx="4552950" cy="2571750"/>
          </a:xfrm>
          <a:prstGeom prst="rect">
            <a:avLst/>
          </a:prstGeom>
          <a:noFill/>
          <a:ln>
            <a:noFill/>
          </a:ln>
        </p:spPr>
      </p:pic>
      <p:sp>
        <p:nvSpPr>
          <p:cNvPr id="128" name="Google Shape;128;p19"/>
          <p:cNvSpPr txBox="1"/>
          <p:nvPr/>
        </p:nvSpPr>
        <p:spPr>
          <a:xfrm>
            <a:off x="5859250" y="2511100"/>
            <a:ext cx="5478900" cy="6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descr="woofer ts snip.PNG" id="129" name="Google Shape;129;p19"/>
          <p:cNvPicPr preferRelativeResize="0"/>
          <p:nvPr/>
        </p:nvPicPr>
        <p:blipFill>
          <a:blip r:embed="rId4">
            <a:alphaModFix/>
          </a:blip>
          <a:stretch>
            <a:fillRect/>
          </a:stretch>
        </p:blipFill>
        <p:spPr>
          <a:xfrm>
            <a:off x="4745075" y="896650"/>
            <a:ext cx="4338100" cy="2497150"/>
          </a:xfrm>
          <a:prstGeom prst="rect">
            <a:avLst/>
          </a:prstGeom>
          <a:noFill/>
          <a:ln>
            <a:noFill/>
          </a:ln>
        </p:spPr>
      </p:pic>
      <p:pic>
        <p:nvPicPr>
          <p:cNvPr descr="woofer snip.PNG" id="130" name="Google Shape;130;p19"/>
          <p:cNvPicPr preferRelativeResize="0"/>
          <p:nvPr/>
        </p:nvPicPr>
        <p:blipFill>
          <a:blip r:embed="rId5">
            <a:alphaModFix/>
          </a:blip>
          <a:stretch>
            <a:fillRect/>
          </a:stretch>
        </p:blipFill>
        <p:spPr>
          <a:xfrm>
            <a:off x="96975" y="3468400"/>
            <a:ext cx="4151808" cy="3028150"/>
          </a:xfrm>
          <a:prstGeom prst="rect">
            <a:avLst/>
          </a:prstGeom>
          <a:noFill/>
          <a:ln>
            <a:noFill/>
          </a:ln>
        </p:spPr>
      </p:pic>
      <p:sp>
        <p:nvSpPr>
          <p:cNvPr id="131" name="Google Shape;131;p19"/>
          <p:cNvSpPr txBox="1"/>
          <p:nvPr/>
        </p:nvSpPr>
        <p:spPr>
          <a:xfrm>
            <a:off x="4396325" y="3470650"/>
            <a:ext cx="4686600" cy="16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Roboto"/>
                <a:ea typeface="Roboto"/>
                <a:cs typeface="Roboto"/>
                <a:sym typeface="Roboto"/>
              </a:rPr>
              <a:t>Pyramid surprisingly offers no response curves for their products. </a:t>
            </a:r>
            <a:endParaRPr sz="2000">
              <a:solidFill>
                <a:schemeClr val="dk1"/>
              </a:solidFill>
              <a:latin typeface="Roboto"/>
              <a:ea typeface="Roboto"/>
              <a:cs typeface="Roboto"/>
              <a:sym typeface="Roboto"/>
            </a:endParaRPr>
          </a:p>
          <a:p>
            <a:pPr indent="0" lvl="0" marL="0" rtl="0" algn="l">
              <a:spcBef>
                <a:spcPts val="0"/>
              </a:spcBef>
              <a:spcAft>
                <a:spcPts val="0"/>
              </a:spcAft>
              <a:buNone/>
            </a:pPr>
            <a:r>
              <a:rPr lang="en-US" sz="2000">
                <a:solidFill>
                  <a:schemeClr val="dk1"/>
                </a:solidFill>
                <a:latin typeface="Roboto"/>
                <a:ea typeface="Roboto"/>
                <a:cs typeface="Roboto"/>
                <a:sym typeface="Roboto"/>
              </a:rPr>
              <a:t>These curves were obtained using Boxwrx. We felt confident enough to proceed with this woofer.</a:t>
            </a:r>
            <a:endParaRPr sz="20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5" name="Shape 135"/>
        <p:cNvGrpSpPr/>
        <p:nvPr/>
      </p:nvGrpSpPr>
      <p:grpSpPr>
        <a:xfrm>
          <a:off x="0" y="0"/>
          <a:ext cx="0" cy="0"/>
          <a:chOff x="0" y="0"/>
          <a:chExt cx="0" cy="0"/>
        </a:xfrm>
      </p:grpSpPr>
      <p:pic>
        <p:nvPicPr>
          <p:cNvPr descr="dc28f-8_photo_3_1.jpg" id="136" name="Google Shape;136;p20"/>
          <p:cNvPicPr preferRelativeResize="0"/>
          <p:nvPr/>
        </p:nvPicPr>
        <p:blipFill>
          <a:blip r:embed="rId3">
            <a:alphaModFix/>
          </a:blip>
          <a:stretch>
            <a:fillRect/>
          </a:stretch>
        </p:blipFill>
        <p:spPr>
          <a:xfrm>
            <a:off x="311700" y="1471988"/>
            <a:ext cx="4787674" cy="4787674"/>
          </a:xfrm>
          <a:prstGeom prst="rect">
            <a:avLst/>
          </a:prstGeom>
          <a:noFill/>
          <a:ln>
            <a:noFill/>
          </a:ln>
        </p:spPr>
      </p:pic>
      <p:sp>
        <p:nvSpPr>
          <p:cNvPr id="137" name="Google Shape;137;p20"/>
          <p:cNvSpPr txBox="1"/>
          <p:nvPr>
            <p:ph type="title"/>
          </p:nvPr>
        </p:nvSpPr>
        <p:spPr>
          <a:xfrm>
            <a:off x="311700" y="232478"/>
            <a:ext cx="8520600" cy="1124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a:t>Dayton Audio DC28F-8</a:t>
            </a:r>
            <a:endParaRPr b="1"/>
          </a:p>
          <a:p>
            <a:pPr indent="0" lvl="0" marL="0" rtl="0" algn="l">
              <a:lnSpc>
                <a:spcPct val="115000"/>
              </a:lnSpc>
              <a:spcBef>
                <a:spcPts val="0"/>
              </a:spcBef>
              <a:spcAft>
                <a:spcPts val="0"/>
              </a:spcAft>
              <a:buNone/>
            </a:pPr>
            <a:r>
              <a:rPr b="1" lang="en-US"/>
              <a:t>1-⅛” Silk Dome Tweeter</a:t>
            </a:r>
            <a:endParaRPr b="1"/>
          </a:p>
          <a:p>
            <a:pPr indent="0" lvl="0" marL="0" rtl="0" algn="l">
              <a:lnSpc>
                <a:spcPct val="115000"/>
              </a:lnSpc>
              <a:spcBef>
                <a:spcPts val="0"/>
              </a:spcBef>
              <a:spcAft>
                <a:spcPts val="0"/>
              </a:spcAft>
              <a:buNone/>
            </a:pPr>
            <a:r>
              <a:t/>
            </a:r>
            <a:endParaRPr/>
          </a:p>
        </p:txBody>
      </p:sp>
      <p:sp>
        <p:nvSpPr>
          <p:cNvPr id="138" name="Google Shape;138;p20"/>
          <p:cNvSpPr txBox="1"/>
          <p:nvPr>
            <p:ph idx="1" type="body"/>
          </p:nvPr>
        </p:nvSpPr>
        <p:spPr>
          <a:xfrm>
            <a:off x="5811900" y="2931600"/>
            <a:ext cx="3020400" cy="994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2400">
                <a:solidFill>
                  <a:schemeClr val="dk1"/>
                </a:solidFill>
              </a:rPr>
              <a:t>Highly rated tweeter of a small diameter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42" name="Shape 142"/>
        <p:cNvGrpSpPr/>
        <p:nvPr/>
      </p:nvGrpSpPr>
      <p:grpSpPr>
        <a:xfrm>
          <a:off x="0" y="0"/>
          <a:ext cx="0" cy="0"/>
          <a:chOff x="0" y="0"/>
          <a:chExt cx="0" cy="0"/>
        </a:xfrm>
      </p:grpSpPr>
      <p:sp>
        <p:nvSpPr>
          <p:cNvPr id="143" name="Google Shape;143;p21"/>
          <p:cNvSpPr txBox="1"/>
          <p:nvPr/>
        </p:nvSpPr>
        <p:spPr>
          <a:xfrm>
            <a:off x="96975" y="240500"/>
            <a:ext cx="4944300" cy="57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Tweeter</a:t>
            </a:r>
            <a:r>
              <a:rPr b="1" lang="en-US" sz="3200">
                <a:solidFill>
                  <a:schemeClr val="dk1"/>
                </a:solidFill>
                <a:latin typeface="Roboto"/>
                <a:ea typeface="Roboto"/>
                <a:cs typeface="Roboto"/>
                <a:sym typeface="Roboto"/>
              </a:rPr>
              <a:t> Specifications</a:t>
            </a:r>
            <a:r>
              <a:rPr b="1" i="0" lang="en-US" sz="3200" u="none">
                <a:solidFill>
                  <a:schemeClr val="dk1"/>
                </a:solidFill>
                <a:latin typeface="Roboto"/>
                <a:ea typeface="Roboto"/>
                <a:cs typeface="Roboto"/>
                <a:sym typeface="Roboto"/>
              </a:rPr>
              <a:t>:</a:t>
            </a:r>
            <a:endParaRPr b="1">
              <a:latin typeface="Roboto"/>
              <a:ea typeface="Roboto"/>
              <a:cs typeface="Roboto"/>
              <a:sym typeface="Roboto"/>
            </a:endParaRPr>
          </a:p>
        </p:txBody>
      </p:sp>
      <p:sp>
        <p:nvSpPr>
          <p:cNvPr id="144" name="Google Shape;144;p21"/>
          <p:cNvSpPr txBox="1"/>
          <p:nvPr/>
        </p:nvSpPr>
        <p:spPr>
          <a:xfrm>
            <a:off x="5859250" y="2511100"/>
            <a:ext cx="5478900" cy="6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txBox="1"/>
          <p:nvPr/>
        </p:nvSpPr>
        <p:spPr>
          <a:xfrm>
            <a:off x="30150" y="5161025"/>
            <a:ext cx="6181200" cy="16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Roboto"/>
                <a:ea typeface="Roboto"/>
                <a:cs typeface="Roboto"/>
                <a:sym typeface="Roboto"/>
              </a:rPr>
              <a:t>Tweeter was rated very highly and, upon inspection, seemed like it would crossover well with the woofer. This actually ended up being more difficult than anticipated.</a:t>
            </a:r>
            <a:endParaRPr sz="2000">
              <a:latin typeface="Roboto"/>
              <a:ea typeface="Roboto"/>
              <a:cs typeface="Roboto"/>
              <a:sym typeface="Roboto"/>
            </a:endParaRPr>
          </a:p>
        </p:txBody>
      </p:sp>
      <p:pic>
        <p:nvPicPr>
          <p:cNvPr descr="tweeter spec snip.PNG" id="146" name="Google Shape;146;p21"/>
          <p:cNvPicPr preferRelativeResize="0"/>
          <p:nvPr/>
        </p:nvPicPr>
        <p:blipFill>
          <a:blip r:embed="rId3">
            <a:alphaModFix/>
          </a:blip>
          <a:stretch>
            <a:fillRect/>
          </a:stretch>
        </p:blipFill>
        <p:spPr>
          <a:xfrm>
            <a:off x="101725" y="896638"/>
            <a:ext cx="4543425" cy="1971675"/>
          </a:xfrm>
          <a:prstGeom prst="rect">
            <a:avLst/>
          </a:prstGeom>
          <a:noFill/>
          <a:ln>
            <a:noFill/>
          </a:ln>
        </p:spPr>
      </p:pic>
      <p:pic>
        <p:nvPicPr>
          <p:cNvPr descr="Tweeter ts snip.PNG" id="147" name="Google Shape;147;p21"/>
          <p:cNvPicPr preferRelativeResize="0"/>
          <p:nvPr/>
        </p:nvPicPr>
        <p:blipFill>
          <a:blip r:embed="rId4">
            <a:alphaModFix/>
          </a:blip>
          <a:stretch>
            <a:fillRect/>
          </a:stretch>
        </p:blipFill>
        <p:spPr>
          <a:xfrm>
            <a:off x="4645150" y="910925"/>
            <a:ext cx="4495800" cy="1943100"/>
          </a:xfrm>
          <a:prstGeom prst="rect">
            <a:avLst/>
          </a:prstGeom>
          <a:noFill/>
          <a:ln>
            <a:noFill/>
          </a:ln>
        </p:spPr>
      </p:pic>
      <p:pic>
        <p:nvPicPr>
          <p:cNvPr descr="tweet chart.PNG" id="148" name="Google Shape;148;p21"/>
          <p:cNvPicPr preferRelativeResize="0"/>
          <p:nvPr/>
        </p:nvPicPr>
        <p:blipFill>
          <a:blip r:embed="rId5">
            <a:alphaModFix/>
          </a:blip>
          <a:stretch>
            <a:fillRect/>
          </a:stretch>
        </p:blipFill>
        <p:spPr>
          <a:xfrm>
            <a:off x="1446750" y="2868325"/>
            <a:ext cx="6250501" cy="2278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52" name="Shape 152"/>
        <p:cNvGrpSpPr/>
        <p:nvPr/>
      </p:nvGrpSpPr>
      <p:grpSpPr>
        <a:xfrm>
          <a:off x="0" y="0"/>
          <a:ext cx="0" cy="0"/>
          <a:chOff x="0" y="0"/>
          <a:chExt cx="0" cy="0"/>
        </a:xfrm>
      </p:grpSpPr>
      <p:sp>
        <p:nvSpPr>
          <p:cNvPr id="153" name="Google Shape;153;p22"/>
          <p:cNvSpPr txBox="1"/>
          <p:nvPr/>
        </p:nvSpPr>
        <p:spPr>
          <a:xfrm>
            <a:off x="296775" y="215700"/>
            <a:ext cx="5546700" cy="592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Construction</a:t>
            </a:r>
            <a:endParaRPr b="1" sz="3200">
              <a:solidFill>
                <a:schemeClr val="dk1"/>
              </a:solidFill>
              <a:latin typeface="Roboto"/>
              <a:ea typeface="Roboto"/>
              <a:cs typeface="Roboto"/>
              <a:sym typeface="Roboto"/>
            </a:endParaRPr>
          </a:p>
        </p:txBody>
      </p:sp>
      <p:sp>
        <p:nvSpPr>
          <p:cNvPr id="154" name="Google Shape;154;p22"/>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155" name="Google Shape;155;p22"/>
          <p:cNvPicPr preferRelativeResize="0"/>
          <p:nvPr/>
        </p:nvPicPr>
        <p:blipFill>
          <a:blip r:embed="rId3">
            <a:alphaModFix/>
          </a:blip>
          <a:stretch>
            <a:fillRect/>
          </a:stretch>
        </p:blipFill>
        <p:spPr>
          <a:xfrm>
            <a:off x="3958250" y="683250"/>
            <a:ext cx="1890714" cy="2788025"/>
          </a:xfrm>
          <a:prstGeom prst="rect">
            <a:avLst/>
          </a:prstGeom>
          <a:noFill/>
          <a:ln>
            <a:noFill/>
          </a:ln>
        </p:spPr>
      </p:pic>
      <p:pic>
        <p:nvPicPr>
          <p:cNvPr id="156" name="Google Shape;156;p22"/>
          <p:cNvPicPr preferRelativeResize="0"/>
          <p:nvPr/>
        </p:nvPicPr>
        <p:blipFill>
          <a:blip r:embed="rId4">
            <a:alphaModFix/>
          </a:blip>
          <a:stretch>
            <a:fillRect/>
          </a:stretch>
        </p:blipFill>
        <p:spPr>
          <a:xfrm>
            <a:off x="819923" y="745875"/>
            <a:ext cx="2662764" cy="2662764"/>
          </a:xfrm>
          <a:prstGeom prst="rect">
            <a:avLst/>
          </a:prstGeom>
          <a:noFill/>
          <a:ln>
            <a:noFill/>
          </a:ln>
        </p:spPr>
      </p:pic>
      <p:pic>
        <p:nvPicPr>
          <p:cNvPr id="157" name="Google Shape;157;p22"/>
          <p:cNvPicPr preferRelativeResize="0"/>
          <p:nvPr/>
        </p:nvPicPr>
        <p:blipFill>
          <a:blip r:embed="rId5">
            <a:alphaModFix/>
          </a:blip>
          <a:stretch>
            <a:fillRect/>
          </a:stretch>
        </p:blipFill>
        <p:spPr>
          <a:xfrm>
            <a:off x="819929" y="3652525"/>
            <a:ext cx="3573272" cy="2662775"/>
          </a:xfrm>
          <a:prstGeom prst="rect">
            <a:avLst/>
          </a:prstGeom>
          <a:noFill/>
          <a:ln>
            <a:noFill/>
          </a:ln>
        </p:spPr>
      </p:pic>
      <p:pic>
        <p:nvPicPr>
          <p:cNvPr id="158" name="Google Shape;158;p22"/>
          <p:cNvPicPr preferRelativeResize="0"/>
          <p:nvPr/>
        </p:nvPicPr>
        <p:blipFill>
          <a:blip r:embed="rId6">
            <a:alphaModFix/>
          </a:blip>
          <a:stretch>
            <a:fillRect/>
          </a:stretch>
        </p:blipFill>
        <p:spPr>
          <a:xfrm>
            <a:off x="6324550" y="683251"/>
            <a:ext cx="2091032" cy="2788025"/>
          </a:xfrm>
          <a:prstGeom prst="rect">
            <a:avLst/>
          </a:prstGeom>
          <a:noFill/>
          <a:ln>
            <a:noFill/>
          </a:ln>
        </p:spPr>
      </p:pic>
      <p:sp>
        <p:nvSpPr>
          <p:cNvPr id="159" name="Google Shape;159;p22"/>
          <p:cNvSpPr txBox="1"/>
          <p:nvPr/>
        </p:nvSpPr>
        <p:spPr>
          <a:xfrm>
            <a:off x="5621475" y="3842775"/>
            <a:ext cx="3024900" cy="9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Port tube was 2.5” in diameter, which required 7.1” length to tune to 50 Hz.</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63" name="Shape 163"/>
        <p:cNvGrpSpPr/>
        <p:nvPr/>
      </p:nvGrpSpPr>
      <p:grpSpPr>
        <a:xfrm>
          <a:off x="0" y="0"/>
          <a:ext cx="0" cy="0"/>
          <a:chOff x="0" y="0"/>
          <a:chExt cx="0" cy="0"/>
        </a:xfrm>
      </p:grpSpPr>
      <p:sp>
        <p:nvSpPr>
          <p:cNvPr id="164" name="Google Shape;164;p23"/>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5" name="Google Shape;165;p23"/>
          <p:cNvSpPr txBox="1"/>
          <p:nvPr/>
        </p:nvSpPr>
        <p:spPr>
          <a:xfrm>
            <a:off x="296775" y="215700"/>
            <a:ext cx="7065300" cy="59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Testing - Woofer</a:t>
            </a:r>
            <a:endParaRPr b="1">
              <a:latin typeface="Roboto"/>
              <a:ea typeface="Roboto"/>
              <a:cs typeface="Roboto"/>
              <a:sym typeface="Roboto"/>
            </a:endParaRPr>
          </a:p>
          <a:p>
            <a:pPr indent="0" lvl="0" marL="0" marR="0" rtl="0" algn="l">
              <a:lnSpc>
                <a:spcPct val="100000"/>
              </a:lnSpc>
              <a:spcBef>
                <a:spcPts val="0"/>
              </a:spcBef>
              <a:spcAft>
                <a:spcPts val="0"/>
              </a:spcAft>
              <a:buClr>
                <a:schemeClr val="dk1"/>
              </a:buClr>
              <a:buFont typeface="Arial"/>
              <a:buNone/>
            </a:pPr>
            <a:r>
              <a:t/>
            </a:r>
            <a:endParaRPr b="1" sz="3200">
              <a:solidFill>
                <a:schemeClr val="dk1"/>
              </a:solidFill>
              <a:latin typeface="Roboto"/>
              <a:ea typeface="Roboto"/>
              <a:cs typeface="Roboto"/>
              <a:sym typeface="Roboto"/>
            </a:endParaRPr>
          </a:p>
        </p:txBody>
      </p:sp>
      <p:pic>
        <p:nvPicPr>
          <p:cNvPr descr="snip woofer.PNG" id="166" name="Google Shape;166;p23"/>
          <p:cNvPicPr preferRelativeResize="0"/>
          <p:nvPr/>
        </p:nvPicPr>
        <p:blipFill>
          <a:blip r:embed="rId3">
            <a:alphaModFix/>
          </a:blip>
          <a:stretch>
            <a:fillRect/>
          </a:stretch>
        </p:blipFill>
        <p:spPr>
          <a:xfrm>
            <a:off x="304238" y="1169950"/>
            <a:ext cx="8535525" cy="1110598"/>
          </a:xfrm>
          <a:prstGeom prst="rect">
            <a:avLst/>
          </a:prstGeom>
          <a:noFill/>
          <a:ln>
            <a:noFill/>
          </a:ln>
        </p:spPr>
      </p:pic>
      <p:pic>
        <p:nvPicPr>
          <p:cNvPr id="167" name="Google Shape;167;p23"/>
          <p:cNvPicPr preferRelativeResize="0"/>
          <p:nvPr/>
        </p:nvPicPr>
        <p:blipFill>
          <a:blip r:embed="rId4">
            <a:alphaModFix/>
          </a:blip>
          <a:stretch>
            <a:fillRect/>
          </a:stretch>
        </p:blipFill>
        <p:spPr>
          <a:xfrm>
            <a:off x="430750" y="2642000"/>
            <a:ext cx="8282501" cy="2480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71" name="Shape 171"/>
        <p:cNvGrpSpPr/>
        <p:nvPr/>
      </p:nvGrpSpPr>
      <p:grpSpPr>
        <a:xfrm>
          <a:off x="0" y="0"/>
          <a:ext cx="0" cy="0"/>
          <a:chOff x="0" y="0"/>
          <a:chExt cx="0" cy="0"/>
        </a:xfrm>
      </p:grpSpPr>
      <p:sp>
        <p:nvSpPr>
          <p:cNvPr id="172" name="Google Shape;172;p24"/>
          <p:cNvSpPr txBox="1"/>
          <p:nvPr/>
        </p:nvSpPr>
        <p:spPr>
          <a:xfrm>
            <a:off x="1219200" y="1371600"/>
            <a:ext cx="1842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3" name="Google Shape;173;p24"/>
          <p:cNvSpPr txBox="1"/>
          <p:nvPr/>
        </p:nvSpPr>
        <p:spPr>
          <a:xfrm>
            <a:off x="296775" y="215700"/>
            <a:ext cx="7065300" cy="59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Testing - Tweeter</a:t>
            </a:r>
            <a:endParaRPr b="1">
              <a:latin typeface="Roboto"/>
              <a:ea typeface="Roboto"/>
              <a:cs typeface="Roboto"/>
              <a:sym typeface="Roboto"/>
            </a:endParaRPr>
          </a:p>
          <a:p>
            <a:pPr indent="0" lvl="0" marL="0" marR="0" rtl="0" algn="l">
              <a:lnSpc>
                <a:spcPct val="100000"/>
              </a:lnSpc>
              <a:spcBef>
                <a:spcPts val="0"/>
              </a:spcBef>
              <a:spcAft>
                <a:spcPts val="0"/>
              </a:spcAft>
              <a:buClr>
                <a:schemeClr val="dk1"/>
              </a:buClr>
              <a:buFont typeface="Arial"/>
              <a:buNone/>
            </a:pPr>
            <a:r>
              <a:t/>
            </a:r>
            <a:endParaRPr b="1" sz="3200">
              <a:solidFill>
                <a:schemeClr val="dk1"/>
              </a:solidFill>
              <a:latin typeface="Roboto"/>
              <a:ea typeface="Roboto"/>
              <a:cs typeface="Roboto"/>
              <a:sym typeface="Roboto"/>
            </a:endParaRPr>
          </a:p>
        </p:txBody>
      </p:sp>
      <p:pic>
        <p:nvPicPr>
          <p:cNvPr descr="tweeter impedance.PNG" id="174" name="Google Shape;174;p24"/>
          <p:cNvPicPr preferRelativeResize="0"/>
          <p:nvPr/>
        </p:nvPicPr>
        <p:blipFill>
          <a:blip r:embed="rId3">
            <a:alphaModFix/>
          </a:blip>
          <a:stretch>
            <a:fillRect/>
          </a:stretch>
        </p:blipFill>
        <p:spPr>
          <a:xfrm>
            <a:off x="296775" y="968350"/>
            <a:ext cx="8520600" cy="1078550"/>
          </a:xfrm>
          <a:prstGeom prst="rect">
            <a:avLst/>
          </a:prstGeom>
          <a:noFill/>
          <a:ln>
            <a:noFill/>
          </a:ln>
        </p:spPr>
      </p:pic>
      <p:pic>
        <p:nvPicPr>
          <p:cNvPr id="175" name="Google Shape;175;p24"/>
          <p:cNvPicPr preferRelativeResize="0"/>
          <p:nvPr/>
        </p:nvPicPr>
        <p:blipFill>
          <a:blip r:embed="rId4">
            <a:alphaModFix/>
          </a:blip>
          <a:stretch>
            <a:fillRect/>
          </a:stretch>
        </p:blipFill>
        <p:spPr>
          <a:xfrm>
            <a:off x="1394263" y="2206750"/>
            <a:ext cx="6325625" cy="40895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79" name="Shape 179"/>
        <p:cNvGrpSpPr/>
        <p:nvPr/>
      </p:nvGrpSpPr>
      <p:grpSpPr>
        <a:xfrm>
          <a:off x="0" y="0"/>
          <a:ext cx="0" cy="0"/>
          <a:chOff x="0" y="0"/>
          <a:chExt cx="0" cy="0"/>
        </a:xfrm>
      </p:grpSpPr>
      <p:sp>
        <p:nvSpPr>
          <p:cNvPr id="180" name="Google Shape;180;p25"/>
          <p:cNvSpPr txBox="1"/>
          <p:nvPr/>
        </p:nvSpPr>
        <p:spPr>
          <a:xfrm>
            <a:off x="296775" y="215700"/>
            <a:ext cx="5546700" cy="59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Crossover Network Design</a:t>
            </a:r>
            <a:endParaRPr b="1">
              <a:latin typeface="Roboto"/>
              <a:ea typeface="Roboto"/>
              <a:cs typeface="Roboto"/>
              <a:sym typeface="Roboto"/>
            </a:endParaRPr>
          </a:p>
          <a:p>
            <a:pPr indent="0" lvl="0" marL="0" marR="0" rtl="0" algn="l">
              <a:lnSpc>
                <a:spcPct val="100000"/>
              </a:lnSpc>
              <a:spcBef>
                <a:spcPts val="0"/>
              </a:spcBef>
              <a:spcAft>
                <a:spcPts val="0"/>
              </a:spcAft>
              <a:buClr>
                <a:schemeClr val="dk1"/>
              </a:buClr>
              <a:buFont typeface="Arial"/>
              <a:buNone/>
            </a:pPr>
            <a:r>
              <a:t/>
            </a:r>
            <a:endParaRPr b="1" sz="3200">
              <a:solidFill>
                <a:schemeClr val="dk1"/>
              </a:solidFill>
              <a:latin typeface="Roboto"/>
              <a:ea typeface="Roboto"/>
              <a:cs typeface="Roboto"/>
              <a:sym typeface="Roboto"/>
            </a:endParaRPr>
          </a:p>
        </p:txBody>
      </p:sp>
      <p:sp>
        <p:nvSpPr>
          <p:cNvPr id="181" name="Google Shape;181;p25"/>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2" name="Google Shape;182;p25"/>
          <p:cNvSpPr txBox="1"/>
          <p:nvPr>
            <p:ph idx="1" type="body"/>
          </p:nvPr>
        </p:nvSpPr>
        <p:spPr>
          <a:xfrm>
            <a:off x="246904" y="3928900"/>
            <a:ext cx="8650200" cy="1746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2400">
                <a:solidFill>
                  <a:schemeClr val="dk1"/>
                </a:solidFill>
              </a:rPr>
              <a:t>Crossover frequency tuned to 1600 Hz with the help of the Boxsim program. The woofer and tweeter were having phase issues regardless of polarity, so some significant tweaking was needed. With professor’s help, we achieved </a:t>
            </a:r>
            <a:endParaRPr sz="2400">
              <a:solidFill>
                <a:schemeClr val="dk1"/>
              </a:solidFill>
            </a:endParaRPr>
          </a:p>
          <a:p>
            <a:pPr indent="0" lvl="0" marL="0" rtl="0" algn="l">
              <a:lnSpc>
                <a:spcPct val="100000"/>
              </a:lnSpc>
              <a:spcBef>
                <a:spcPts val="0"/>
              </a:spcBef>
              <a:spcAft>
                <a:spcPts val="0"/>
              </a:spcAft>
              <a:buNone/>
            </a:pPr>
            <a:r>
              <a:rPr lang="en-US" sz="2400">
                <a:solidFill>
                  <a:schemeClr val="dk1"/>
                </a:solidFill>
              </a:rPr>
              <a:t>a relatively flat response.</a:t>
            </a:r>
            <a:endParaRPr/>
          </a:p>
        </p:txBody>
      </p:sp>
      <p:pic>
        <p:nvPicPr>
          <p:cNvPr descr="crossover snip.PNG" id="183" name="Google Shape;183;p25"/>
          <p:cNvPicPr preferRelativeResize="0"/>
          <p:nvPr/>
        </p:nvPicPr>
        <p:blipFill>
          <a:blip r:embed="rId3">
            <a:alphaModFix/>
          </a:blip>
          <a:stretch>
            <a:fillRect/>
          </a:stretch>
        </p:blipFill>
        <p:spPr>
          <a:xfrm>
            <a:off x="246838" y="1371591"/>
            <a:ext cx="8650325" cy="248150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87" name="Shape 187"/>
        <p:cNvGrpSpPr/>
        <p:nvPr/>
      </p:nvGrpSpPr>
      <p:grpSpPr>
        <a:xfrm>
          <a:off x="0" y="0"/>
          <a:ext cx="0" cy="0"/>
          <a:chOff x="0" y="0"/>
          <a:chExt cx="0" cy="0"/>
        </a:xfrm>
      </p:grpSpPr>
      <p:sp>
        <p:nvSpPr>
          <p:cNvPr id="188" name="Google Shape;188;p26"/>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9" name="Google Shape;189;p26"/>
          <p:cNvSpPr txBox="1"/>
          <p:nvPr/>
        </p:nvSpPr>
        <p:spPr>
          <a:xfrm>
            <a:off x="296775" y="215700"/>
            <a:ext cx="7290600" cy="592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200">
                <a:solidFill>
                  <a:schemeClr val="dk1"/>
                </a:solidFill>
                <a:latin typeface="Roboto"/>
                <a:ea typeface="Roboto"/>
                <a:cs typeface="Roboto"/>
                <a:sym typeface="Roboto"/>
              </a:rPr>
              <a:t>Simulated System Performance</a:t>
            </a:r>
            <a:endParaRPr b="1">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30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Font typeface="Arial"/>
              <a:buNone/>
            </a:pPr>
            <a:r>
              <a:t/>
            </a:r>
            <a:endParaRPr b="1" sz="3200">
              <a:solidFill>
                <a:schemeClr val="dk1"/>
              </a:solidFill>
              <a:latin typeface="Roboto"/>
              <a:ea typeface="Roboto"/>
              <a:cs typeface="Roboto"/>
              <a:sym typeface="Roboto"/>
            </a:endParaRPr>
          </a:p>
        </p:txBody>
      </p:sp>
      <p:pic>
        <p:nvPicPr>
          <p:cNvPr descr="response.PNG" id="190" name="Google Shape;190;p26"/>
          <p:cNvPicPr preferRelativeResize="0"/>
          <p:nvPr/>
        </p:nvPicPr>
        <p:blipFill>
          <a:blip r:embed="rId3">
            <a:alphaModFix/>
          </a:blip>
          <a:stretch>
            <a:fillRect/>
          </a:stretch>
        </p:blipFill>
        <p:spPr>
          <a:xfrm>
            <a:off x="296775" y="808500"/>
            <a:ext cx="8425525" cy="57012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94" name="Shape 194"/>
        <p:cNvGrpSpPr/>
        <p:nvPr/>
      </p:nvGrpSpPr>
      <p:grpSpPr>
        <a:xfrm>
          <a:off x="0" y="0"/>
          <a:ext cx="0" cy="0"/>
          <a:chOff x="0" y="0"/>
          <a:chExt cx="0" cy="0"/>
        </a:xfrm>
      </p:grpSpPr>
      <p:sp>
        <p:nvSpPr>
          <p:cNvPr id="195" name="Google Shape;195;p27"/>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6" name="Google Shape;196;p27"/>
          <p:cNvSpPr txBox="1"/>
          <p:nvPr>
            <p:ph type="title"/>
          </p:nvPr>
        </p:nvSpPr>
        <p:spPr>
          <a:xfrm>
            <a:off x="311700" y="561292"/>
            <a:ext cx="8520600" cy="8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a:t>System Performance</a:t>
            </a:r>
            <a:endParaRPr b="1"/>
          </a:p>
        </p:txBody>
      </p:sp>
      <p:pic>
        <p:nvPicPr>
          <p:cNvPr descr="Sys-6.jpg" id="197" name="Google Shape;197;p27"/>
          <p:cNvPicPr preferRelativeResize="0"/>
          <p:nvPr/>
        </p:nvPicPr>
        <p:blipFill>
          <a:blip r:embed="rId3">
            <a:alphaModFix/>
          </a:blip>
          <a:stretch>
            <a:fillRect/>
          </a:stretch>
        </p:blipFill>
        <p:spPr>
          <a:xfrm>
            <a:off x="311700" y="1371600"/>
            <a:ext cx="8520601" cy="41746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01" name="Shape 201"/>
        <p:cNvGrpSpPr/>
        <p:nvPr/>
      </p:nvGrpSpPr>
      <p:grpSpPr>
        <a:xfrm>
          <a:off x="0" y="0"/>
          <a:ext cx="0" cy="0"/>
          <a:chOff x="0" y="0"/>
          <a:chExt cx="0" cy="0"/>
        </a:xfrm>
      </p:grpSpPr>
      <p:sp>
        <p:nvSpPr>
          <p:cNvPr id="202" name="Google Shape;202;p28"/>
          <p:cNvSpPr txBox="1"/>
          <p:nvPr/>
        </p:nvSpPr>
        <p:spPr>
          <a:xfrm>
            <a:off x="477500" y="564925"/>
            <a:ext cx="2925600" cy="69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rPr b="1" i="0" lang="en-US" sz="3200" u="none">
                <a:solidFill>
                  <a:schemeClr val="dk1"/>
                </a:solidFill>
                <a:latin typeface="Roboto"/>
                <a:ea typeface="Roboto"/>
                <a:cs typeface="Roboto"/>
                <a:sym typeface="Roboto"/>
              </a:rPr>
              <a:t>System </a:t>
            </a:r>
            <a:r>
              <a:rPr b="1" lang="en-US" sz="3200">
                <a:solidFill>
                  <a:schemeClr val="dk1"/>
                </a:solidFill>
                <a:latin typeface="Roboto"/>
                <a:ea typeface="Roboto"/>
                <a:cs typeface="Roboto"/>
                <a:sym typeface="Roboto"/>
              </a:rPr>
              <a:t>C</a:t>
            </a:r>
            <a:r>
              <a:rPr b="1" i="0" lang="en-US" sz="3200" u="none">
                <a:solidFill>
                  <a:schemeClr val="dk1"/>
                </a:solidFill>
                <a:latin typeface="Roboto"/>
                <a:ea typeface="Roboto"/>
                <a:cs typeface="Roboto"/>
                <a:sym typeface="Roboto"/>
              </a:rPr>
              <a:t>ost</a:t>
            </a:r>
            <a:endParaRPr b="1">
              <a:latin typeface="Roboto"/>
              <a:ea typeface="Roboto"/>
              <a:cs typeface="Roboto"/>
              <a:sym typeface="Roboto"/>
            </a:endParaRPr>
          </a:p>
        </p:txBody>
      </p:sp>
      <p:sp>
        <p:nvSpPr>
          <p:cNvPr id="203" name="Google Shape;203;p28"/>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 name="Google Shape;204;p28"/>
          <p:cNvSpPr txBox="1"/>
          <p:nvPr/>
        </p:nvSpPr>
        <p:spPr>
          <a:xfrm>
            <a:off x="1447800" y="2362200"/>
            <a:ext cx="4767262" cy="1187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Times New Roman"/>
              <a:buNone/>
            </a:pPr>
            <a:r>
              <a:t/>
            </a:r>
            <a:endParaRPr/>
          </a:p>
        </p:txBody>
      </p:sp>
      <p:pic>
        <p:nvPicPr>
          <p:cNvPr descr="Screen Shot 2017-04-25 at 11.44.09 PM.png" id="205" name="Google Shape;205;p28"/>
          <p:cNvPicPr preferRelativeResize="0"/>
          <p:nvPr/>
        </p:nvPicPr>
        <p:blipFill>
          <a:blip r:embed="rId3">
            <a:alphaModFix/>
          </a:blip>
          <a:stretch>
            <a:fillRect/>
          </a:stretch>
        </p:blipFill>
        <p:spPr>
          <a:xfrm>
            <a:off x="172375" y="1262125"/>
            <a:ext cx="8799250" cy="4824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9" name="Shape 209"/>
        <p:cNvGrpSpPr/>
        <p:nvPr/>
      </p:nvGrpSpPr>
      <p:grpSpPr>
        <a:xfrm>
          <a:off x="0" y="0"/>
          <a:ext cx="0" cy="0"/>
          <a:chOff x="0" y="0"/>
          <a:chExt cx="0" cy="0"/>
        </a:xfrm>
      </p:grpSpPr>
      <p:pic>
        <p:nvPicPr>
          <p:cNvPr descr="18120334_10211179959228464_437089153_o.jpg" id="210" name="Google Shape;210;p29"/>
          <p:cNvPicPr preferRelativeResize="0"/>
          <p:nvPr/>
        </p:nvPicPr>
        <p:blipFill>
          <a:blip r:embed="rId3">
            <a:alphaModFix/>
          </a:blip>
          <a:stretch>
            <a:fillRect/>
          </a:stretch>
        </p:blipFill>
        <p:spPr>
          <a:xfrm>
            <a:off x="0" y="0"/>
            <a:ext cx="9143999" cy="6857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14" name="Shape 214"/>
        <p:cNvGrpSpPr/>
        <p:nvPr/>
      </p:nvGrpSpPr>
      <p:grpSpPr>
        <a:xfrm>
          <a:off x="0" y="0"/>
          <a:ext cx="0" cy="0"/>
          <a:chOff x="0" y="0"/>
          <a:chExt cx="0" cy="0"/>
        </a:xfrm>
      </p:grpSpPr>
      <p:sp>
        <p:nvSpPr>
          <p:cNvPr id="215" name="Google Shape;215;p30"/>
          <p:cNvSpPr txBox="1"/>
          <p:nvPr/>
        </p:nvSpPr>
        <p:spPr>
          <a:xfrm>
            <a:off x="1371600" y="762000"/>
            <a:ext cx="2438400" cy="5794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Font typeface="Arial"/>
              <a:buNone/>
            </a:pPr>
            <a:r>
              <a:t/>
            </a:r>
            <a:endParaRPr/>
          </a:p>
        </p:txBody>
      </p:sp>
      <p:sp>
        <p:nvSpPr>
          <p:cNvPr id="216" name="Google Shape;216;p30"/>
          <p:cNvSpPr txBox="1"/>
          <p:nvPr/>
        </p:nvSpPr>
        <p:spPr>
          <a:xfrm>
            <a:off x="1219200" y="1371600"/>
            <a:ext cx="1841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7" name="Google Shape;217;p30"/>
          <p:cNvSpPr txBox="1"/>
          <p:nvPr/>
        </p:nvSpPr>
        <p:spPr>
          <a:xfrm>
            <a:off x="5071700" y="173750"/>
            <a:ext cx="6848400" cy="191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a:p>
        </p:txBody>
      </p:sp>
      <p:sp>
        <p:nvSpPr>
          <p:cNvPr id="218" name="Google Shape;218;p30"/>
          <p:cNvSpPr txBox="1"/>
          <p:nvPr>
            <p:ph type="title"/>
          </p:nvPr>
        </p:nvSpPr>
        <p:spPr>
          <a:xfrm>
            <a:off x="311700" y="546667"/>
            <a:ext cx="8520600" cy="81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Future Work:</a:t>
            </a:r>
            <a:endParaRPr/>
          </a:p>
        </p:txBody>
      </p:sp>
      <p:sp>
        <p:nvSpPr>
          <p:cNvPr id="219" name="Google Shape;219;p30"/>
          <p:cNvSpPr txBox="1"/>
          <p:nvPr>
            <p:ph idx="1" type="body"/>
          </p:nvPr>
        </p:nvSpPr>
        <p:spPr>
          <a:xfrm>
            <a:off x="311700" y="1371608"/>
            <a:ext cx="8520600" cy="4452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400"/>
              <a:buFont typeface="Arial"/>
              <a:buChar char="•"/>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With more money, we would have purchased a higher quality woofer, since we ended up missing more frequencies than our simulation led us to believe.</a:t>
            </a:r>
            <a:endParaRPr sz="2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2400"/>
              <a:buFont typeface="Arial"/>
              <a:buChar char="•"/>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With more time, we would have built a subwoofer, and made amplifiers built in the speakers.</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For an actual production prototype, we would source our crossover components from another vendor, as these components consumed half of our budget.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